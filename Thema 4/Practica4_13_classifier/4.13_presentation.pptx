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дукт і результати" id="{a84b5246-0d74-d06c-476a-3f771a323ea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Тест, 27 фото</c:v>
                </c:pt>
              </c:strCache>
            </c:strRef>
          </c:tx>
          <c:spPr>
            <a:solidFill>
              <a:srgbClr val="7FB06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4E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A. Лише новий шар</c:v>
                  </c:pt>
                  <c:pt idx="1">
                    <c:v>B. Новий шар + layer4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Складний набір, 24 фото</c:v>
                </c:pt>
              </c:strCache>
            </c:strRef>
          </c:tx>
          <c:spPr>
            <a:solidFill>
              <a:srgbClr val="D4AA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2F4E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A. Лише новий шар</c:v>
                  </c:pt>
                  <c:pt idx="1">
                    <c:v>B. Новий шар + layer4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0.71</c:v>
                </c:pt>
                <c:pt idx="1">
                  <c:v>0.88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2F4E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F4E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9B39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— повторне використання готової моделі. Завдання: навчальний застосунок відносить фото до трьох класів — БПЛА, бронетехніка, вантажівки.
Модель — ResNet18 з PyTorch Hub, вже навчена на ImageNet. Дані — 99 відкритих знімків з Wikimedia Commons, відібраних вручну: прибрав карти, макети, фото людей.
Що змінено: старий вихідний шар на 1000 класів замінив новим на 3 класи і додатково донавчив останній блок layer4. Навчання — 2 хвилини на звичайному ноутбуці без GPU.
Ліворуч — сам застосунок: фото, клас, впевненість і розподіл ймовірностей. Праворуч — нові знімки: Bayraktar і Abrams — 100 %, КрАЗ — 70 %, колісний БТР-80, якого не було в навчанні, — 69 %.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Порівняв два режими. A — навчається тільки новий шар: 93 % на тесті. B — ще й розморожений layer4: 100 % на тесті з 27 знімків.
Щоб перевірити чесно, зібрав окремий складний набір — 24 знімки техніки інших типів. Там режим B дає 88 %, режим A — 71 %.
Помилки показові. Колісні бронеавтомобілі «Козак-2» модель назвала вантажівкою з впевненістю 97 %: бронетехніка в навчанні була лише гусеничною, тож колеса й кабіна для неї — ознака вантажівки. Це зсув даних, і це найнебезпечніший тип помилки — висока впевненість. Солдата з квадрокоптером віднесла до бронетехніки: дрон замалий у кадрі.
Висновок: готова модель дає результат на 60 фото за дві хвилини без GPU. Обмеження — малий тест, немає класу «інше», треба додати колісну броню й малі дрони. Код, дані й модель — у репозиторії на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D">
    <p:bg>
      <p:bgPr>
        <a:solidFill>
          <a:srgbClr val="141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8778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8412480" y="45720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Практична 4.13 · варіант 1 · Щербаков Б., гр. 5202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Фото: Wikimedia Commons (CC BY, CC BY-SA, public domain); автори — data/credits.csv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6400800" y="638251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github.com/bodtankist-tech/Praktik2026 → Thema 4/Practica4_13_classifier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jpg"/><Relationship Id="rId4" Type="http://schemas.openxmlformats.org/officeDocument/2006/relationships/image" Target="../media/image-2-3.jp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Розпізнавач техніки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Готова нейромережа ResNet18 донавчена розрізняти БПЛА, бронетехніку й вантажівки</a:t>
            </a:r>
            <a:endParaRPr lang="en-US" sz="1600" dirty="0"/>
          </a:p>
        </p:txBody>
      </p:sp>
      <p:sp>
        <p:nvSpPr>
          <p:cNvPr id="4" name="App frame"/>
          <p:cNvSpPr/>
          <p:nvPr/>
        </p:nvSpPr>
        <p:spPr>
          <a:xfrm>
            <a:off x="548640" y="1645920"/>
            <a:ext cx="3715249" cy="4617720"/>
          </a:xfrm>
          <a:prstGeom prst="roundRect">
            <a:avLst>
              <a:gd name="adj" fmla="val 196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App screenshot" descr="Вікно застосунку: фото танка, прогноз Бронетехніка 90 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532369" cy="4434840"/>
          </a:xfrm>
          <a:prstGeom prst="rect">
            <a:avLst/>
          </a:prstGeom>
        </p:spPr>
      </p:pic>
      <p:sp>
        <p:nvSpPr>
          <p:cNvPr id="6" name="Card Модель"/>
          <p:cNvSpPr/>
          <p:nvPr/>
        </p:nvSpPr>
        <p:spPr>
          <a:xfrm>
            <a:off x="4800600" y="1645920"/>
            <a:ext cx="2128418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Icon bg Модель"/>
          <p:cNvSpPr/>
          <p:nvPr/>
        </p:nvSpPr>
        <p:spPr>
          <a:xfrm>
            <a:off x="498348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Модель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938528"/>
            <a:ext cx="237744" cy="237744"/>
          </a:xfrm>
          <a:prstGeom prst="rect">
            <a:avLst/>
          </a:prstGeom>
        </p:spPr>
      </p:pic>
      <p:sp>
        <p:nvSpPr>
          <p:cNvPr id="9" name="Tag Модель"/>
          <p:cNvSpPr txBox="1"/>
          <p:nvPr/>
        </p:nvSpPr>
        <p:spPr>
          <a:xfrm>
            <a:off x="5550408" y="1874520"/>
            <a:ext cx="1259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МОДЕЛЬ</a:t>
            </a:r>
            <a:endParaRPr lang="en-US" sz="1100" dirty="0"/>
          </a:p>
        </p:txBody>
      </p:sp>
      <p:sp>
        <p:nvSpPr>
          <p:cNvPr id="10" name="Head Модель"/>
          <p:cNvSpPr txBox="1"/>
          <p:nvPr/>
        </p:nvSpPr>
        <p:spPr>
          <a:xfrm>
            <a:off x="4983480" y="2423160"/>
            <a:ext cx="1808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ResNet18 · ImageNet</a:t>
            </a:r>
            <a:endParaRPr lang="en-US" sz="1500" dirty="0"/>
          </a:p>
        </p:txBody>
      </p:sp>
      <p:sp>
        <p:nvSpPr>
          <p:cNvPr id="11" name="Body Модель"/>
          <p:cNvSpPr txBox="1"/>
          <p:nvPr/>
        </p:nvSpPr>
        <p:spPr>
          <a:xfrm>
            <a:off x="4983480" y="2788920"/>
            <a:ext cx="1808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Попередньо навчена на 1,2 млн фото, 1000 класів. Джерело — PyTorch Hub (torchvision)</a:t>
            </a:r>
            <a:endParaRPr lang="en-US" sz="1100" dirty="0"/>
          </a:p>
        </p:txBody>
      </p:sp>
      <p:sp>
        <p:nvSpPr>
          <p:cNvPr id="12" name="Card Дані"/>
          <p:cNvSpPr/>
          <p:nvPr/>
        </p:nvSpPr>
        <p:spPr>
          <a:xfrm>
            <a:off x="7157618" y="1645920"/>
            <a:ext cx="2128418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Icon bg Дані"/>
          <p:cNvSpPr/>
          <p:nvPr/>
        </p:nvSpPr>
        <p:spPr>
          <a:xfrm>
            <a:off x="7340498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Дані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226" y="1938528"/>
            <a:ext cx="237744" cy="237744"/>
          </a:xfrm>
          <a:prstGeom prst="rect">
            <a:avLst/>
          </a:prstGeom>
        </p:spPr>
      </p:pic>
      <p:sp>
        <p:nvSpPr>
          <p:cNvPr id="15" name="Tag Дані"/>
          <p:cNvSpPr txBox="1"/>
          <p:nvPr/>
        </p:nvSpPr>
        <p:spPr>
          <a:xfrm>
            <a:off x="7907426" y="1874520"/>
            <a:ext cx="1259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ДАНІ</a:t>
            </a:r>
            <a:endParaRPr lang="en-US" sz="1100" dirty="0"/>
          </a:p>
        </p:txBody>
      </p:sp>
      <p:sp>
        <p:nvSpPr>
          <p:cNvPr id="16" name="Head Дані"/>
          <p:cNvSpPr txBox="1"/>
          <p:nvPr/>
        </p:nvSpPr>
        <p:spPr>
          <a:xfrm>
            <a:off x="7340498" y="2423160"/>
            <a:ext cx="1808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99 відкритих фото</a:t>
            </a:r>
            <a:endParaRPr lang="en-US" sz="1500" dirty="0"/>
          </a:p>
        </p:txBody>
      </p:sp>
      <p:sp>
        <p:nvSpPr>
          <p:cNvPr id="17" name="Body Дані"/>
          <p:cNvSpPr txBox="1"/>
          <p:nvPr/>
        </p:nvSpPr>
        <p:spPr>
          <a:xfrm>
            <a:off x="7340498" y="2788920"/>
            <a:ext cx="1808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Wikimedia Commons, відібрані вручну: 20 навч. + 4 валід. на клас, 27 — тест</a:t>
            </a:r>
            <a:endParaRPr lang="en-US" sz="1100" dirty="0"/>
          </a:p>
        </p:txBody>
      </p:sp>
      <p:sp>
        <p:nvSpPr>
          <p:cNvPr id="18" name="Card Адаптація"/>
          <p:cNvSpPr/>
          <p:nvPr/>
        </p:nvSpPr>
        <p:spPr>
          <a:xfrm>
            <a:off x="9514637" y="1645920"/>
            <a:ext cx="2128418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Icon bg Адаптація"/>
          <p:cNvSpPr/>
          <p:nvPr/>
        </p:nvSpPr>
        <p:spPr>
          <a:xfrm>
            <a:off x="9697517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 Адаптація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245" y="1938528"/>
            <a:ext cx="237744" cy="237744"/>
          </a:xfrm>
          <a:prstGeom prst="rect">
            <a:avLst/>
          </a:prstGeom>
        </p:spPr>
      </p:pic>
      <p:sp>
        <p:nvSpPr>
          <p:cNvPr id="21" name="Tag Адаптація"/>
          <p:cNvSpPr txBox="1"/>
          <p:nvPr/>
        </p:nvSpPr>
        <p:spPr>
          <a:xfrm>
            <a:off x="10264445" y="1874520"/>
            <a:ext cx="1259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АДАПТАЦІЯ</a:t>
            </a:r>
            <a:endParaRPr lang="en-US" sz="1100" dirty="0"/>
          </a:p>
        </p:txBody>
      </p:sp>
      <p:sp>
        <p:nvSpPr>
          <p:cNvPr id="22" name="Head Адаптація"/>
          <p:cNvSpPr txBox="1"/>
          <p:nvPr/>
        </p:nvSpPr>
        <p:spPr>
          <a:xfrm>
            <a:off x="9697517" y="2423160"/>
            <a:ext cx="1808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Новий шар 512 → 3</a:t>
            </a:r>
            <a:endParaRPr lang="en-US" sz="1500" dirty="0"/>
          </a:p>
        </p:txBody>
      </p:sp>
      <p:sp>
        <p:nvSpPr>
          <p:cNvPr id="23" name="Body Адаптація"/>
          <p:cNvSpPr txBox="1"/>
          <p:nvPr/>
        </p:nvSpPr>
        <p:spPr>
          <a:xfrm>
            <a:off x="9697517" y="2788920"/>
            <a:ext cx="1808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Замінено вихідний шар, розморожено блок layer4; 12 епох — 2 хв на CPU</a:t>
            </a:r>
            <a:endParaRPr lang="en-US" sz="1100" dirty="0"/>
          </a:p>
        </p:txBody>
      </p:sp>
      <p:sp>
        <p:nvSpPr>
          <p:cNvPr id="24" name="Demo header"/>
          <p:cNvSpPr txBox="1"/>
          <p:nvPr/>
        </p:nvSpPr>
        <p:spPr>
          <a:xfrm>
            <a:off x="4800600" y="3840480"/>
            <a:ext cx="6842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Нові знімки, яких модель не бачила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   фото → клас → впевненість</a:t>
            </a:r>
            <a:endParaRPr lang="en-US" sz="1500" dirty="0"/>
          </a:p>
        </p:txBody>
      </p:sp>
      <p:sp>
        <p:nvSpPr>
          <p:cNvPr id="25" name="Tile 1"/>
          <p:cNvSpPr/>
          <p:nvPr/>
        </p:nvSpPr>
        <p:spPr>
          <a:xfrm>
            <a:off x="4800600" y="4297680"/>
            <a:ext cx="1573454" cy="1890217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6" name="Demo photo 1" descr="Bayraktar TB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97680"/>
            <a:ext cx="1573454" cy="1048969"/>
          </a:xfrm>
          <a:prstGeom prst="rect">
            <a:avLst/>
          </a:prstGeom>
        </p:spPr>
      </p:pic>
      <p:sp>
        <p:nvSpPr>
          <p:cNvPr id="27" name="Demo name 1"/>
          <p:cNvSpPr txBox="1"/>
          <p:nvPr/>
        </p:nvSpPr>
        <p:spPr>
          <a:xfrm>
            <a:off x="4910328" y="5401513"/>
            <a:ext cx="1390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Bayraktar TB2</a:t>
            </a:r>
            <a:endParaRPr lang="en-US" sz="1000" dirty="0"/>
          </a:p>
        </p:txBody>
      </p:sp>
      <p:sp>
        <p:nvSpPr>
          <p:cNvPr id="28" name="Demo result 1"/>
          <p:cNvSpPr txBox="1"/>
          <p:nvPr/>
        </p:nvSpPr>
        <p:spPr>
          <a:xfrm>
            <a:off x="4910328" y="5639257"/>
            <a:ext cx="1390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БПЛА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100 %</a:t>
            </a:r>
            <a:endParaRPr lang="en-US" sz="1300" dirty="0"/>
          </a:p>
        </p:txBody>
      </p:sp>
      <p:sp>
        <p:nvSpPr>
          <p:cNvPr id="29" name="Tile 2"/>
          <p:cNvSpPr/>
          <p:nvPr/>
        </p:nvSpPr>
        <p:spPr>
          <a:xfrm>
            <a:off x="6556934" y="4297680"/>
            <a:ext cx="1573454" cy="1890217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0" name="Demo photo 2" descr="M1 Abram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934" y="4297680"/>
            <a:ext cx="1573454" cy="1048969"/>
          </a:xfrm>
          <a:prstGeom prst="rect">
            <a:avLst/>
          </a:prstGeom>
        </p:spPr>
      </p:pic>
      <p:sp>
        <p:nvSpPr>
          <p:cNvPr id="31" name="Demo name 2"/>
          <p:cNvSpPr txBox="1"/>
          <p:nvPr/>
        </p:nvSpPr>
        <p:spPr>
          <a:xfrm>
            <a:off x="6666662" y="5401513"/>
            <a:ext cx="1390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M1 Abrams</a:t>
            </a:r>
            <a:endParaRPr lang="en-US" sz="1000" dirty="0"/>
          </a:p>
        </p:txBody>
      </p:sp>
      <p:sp>
        <p:nvSpPr>
          <p:cNvPr id="32" name="Demo result 2"/>
          <p:cNvSpPr txBox="1"/>
          <p:nvPr/>
        </p:nvSpPr>
        <p:spPr>
          <a:xfrm>
            <a:off x="6666662" y="5639257"/>
            <a:ext cx="1390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Бронетехніка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100 %</a:t>
            </a:r>
            <a:endParaRPr lang="en-US" sz="1300" dirty="0"/>
          </a:p>
        </p:txBody>
      </p:sp>
      <p:sp>
        <p:nvSpPr>
          <p:cNvPr id="33" name="Tile 3"/>
          <p:cNvSpPr/>
          <p:nvPr/>
        </p:nvSpPr>
        <p:spPr>
          <a:xfrm>
            <a:off x="8313268" y="4297680"/>
            <a:ext cx="1573454" cy="1890217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4" name="Demo photo 3" descr="КрАЗ-632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3268" y="4297680"/>
            <a:ext cx="1573454" cy="1048969"/>
          </a:xfrm>
          <a:prstGeom prst="rect">
            <a:avLst/>
          </a:prstGeom>
        </p:spPr>
      </p:pic>
      <p:sp>
        <p:nvSpPr>
          <p:cNvPr id="35" name="Demo name 3"/>
          <p:cNvSpPr txBox="1"/>
          <p:nvPr/>
        </p:nvSpPr>
        <p:spPr>
          <a:xfrm>
            <a:off x="8422996" y="5401513"/>
            <a:ext cx="1390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КрАЗ-6322</a:t>
            </a:r>
            <a:endParaRPr lang="en-US" sz="1000" dirty="0"/>
          </a:p>
        </p:txBody>
      </p:sp>
      <p:sp>
        <p:nvSpPr>
          <p:cNvPr id="36" name="Demo result 3"/>
          <p:cNvSpPr txBox="1"/>
          <p:nvPr/>
        </p:nvSpPr>
        <p:spPr>
          <a:xfrm>
            <a:off x="8422996" y="5639257"/>
            <a:ext cx="1390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Вантажівка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70 %</a:t>
            </a:r>
            <a:endParaRPr lang="en-US" sz="1300" dirty="0"/>
          </a:p>
        </p:txBody>
      </p:sp>
      <p:sp>
        <p:nvSpPr>
          <p:cNvPr id="37" name="Tile 4"/>
          <p:cNvSpPr/>
          <p:nvPr/>
        </p:nvSpPr>
        <p:spPr>
          <a:xfrm>
            <a:off x="10069601" y="4297680"/>
            <a:ext cx="1573454" cy="1890217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8" name="Demo photo 4" descr="БТР-80 · складний набір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601" y="4297680"/>
            <a:ext cx="1573454" cy="1048969"/>
          </a:xfrm>
          <a:prstGeom prst="rect">
            <a:avLst/>
          </a:prstGeom>
        </p:spPr>
      </p:pic>
      <p:sp>
        <p:nvSpPr>
          <p:cNvPr id="39" name="Demo name 4"/>
          <p:cNvSpPr txBox="1"/>
          <p:nvPr/>
        </p:nvSpPr>
        <p:spPr>
          <a:xfrm>
            <a:off x="10179329" y="5401513"/>
            <a:ext cx="1390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БТР-80 · складний набір</a:t>
            </a:r>
            <a:endParaRPr lang="en-US" sz="1000" dirty="0"/>
          </a:p>
        </p:txBody>
      </p:sp>
      <p:sp>
        <p:nvSpPr>
          <p:cNvPr id="40" name="Demo result 4"/>
          <p:cNvSpPr txBox="1"/>
          <p:nvPr/>
        </p:nvSpPr>
        <p:spPr>
          <a:xfrm>
            <a:off x="10179329" y="5639257"/>
            <a:ext cx="1390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Бронетехніка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69 %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100 %, нетипова техніка 88 %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Розморожений layer4 дає більше, ніж навчання лише нового шару</a:t>
            </a:r>
            <a:endParaRPr lang="en-US" sz="1600" dirty="0"/>
          </a:p>
        </p:txBody>
      </p:sp>
      <p:sp>
        <p:nvSpPr>
          <p:cNvPr id="4" name="Chart card"/>
          <p:cNvSpPr/>
          <p:nvPr/>
        </p:nvSpPr>
        <p:spPr>
          <a:xfrm>
            <a:off x="548640" y="1645920"/>
            <a:ext cx="5120640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5" name="Accuracy chart" descr=""/>
          <p:cNvGraphicFramePr/>
          <p:nvPr/>
        </p:nvGraphicFramePr>
        <p:xfrm>
          <a:off x="685800" y="1737360"/>
          <a:ext cx="4846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art note"/>
          <p:cNvSpPr txBox="1"/>
          <p:nvPr/>
        </p:nvSpPr>
        <p:spPr>
          <a:xfrm>
            <a:off x="73152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Складний набір — техніка, якої не було в навчанні: квадрокоптери, Akıncı, БТР-80, БМП-1, MRAP, Unimog, Iveco, ГАЗ-66</a:t>
            </a:r>
            <a:endParaRPr lang="en-US" sz="1000" dirty="0"/>
          </a:p>
        </p:txBody>
      </p:sp>
      <p:pic>
        <p:nvPicPr>
          <p:cNvPr id="7" name="Erro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73352"/>
            <a:ext cx="237744" cy="237744"/>
          </a:xfrm>
          <a:prstGeom prst="rect">
            <a:avLst/>
          </a:prstGeom>
        </p:spPr>
      </p:pic>
      <p:sp>
        <p:nvSpPr>
          <p:cNvPr id="8" name="Errors header"/>
          <p:cNvSpPr txBox="1"/>
          <p:nvPr/>
        </p:nvSpPr>
        <p:spPr>
          <a:xfrm>
            <a:off x="6336792" y="1645920"/>
            <a:ext cx="52879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Де модель помиляється</a:t>
            </a:r>
            <a:endParaRPr lang="en-US" sz="1500" dirty="0"/>
          </a:p>
        </p:txBody>
      </p:sp>
      <p:sp>
        <p:nvSpPr>
          <p:cNvPr id="9" name="Error card 1"/>
          <p:cNvSpPr/>
          <p:nvPr/>
        </p:nvSpPr>
        <p:spPr>
          <a:xfrm>
            <a:off x="5989320" y="2057400"/>
            <a:ext cx="2712568" cy="2834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0" name="Error photo 1" descr="«Козак-2» → «вантажівка», 97 %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57400"/>
            <a:ext cx="2712568" cy="1750044"/>
          </a:xfrm>
          <a:prstGeom prst="rect">
            <a:avLst/>
          </a:prstGeom>
        </p:spPr>
      </p:pic>
      <p:sp>
        <p:nvSpPr>
          <p:cNvPr id="11" name="Error head 1"/>
          <p:cNvSpPr txBox="1"/>
          <p:nvPr/>
        </p:nvSpPr>
        <p:spPr>
          <a:xfrm>
            <a:off x="6126480" y="3898884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«Козак-2» → «вантажівка», 97 %</a:t>
            </a:r>
            <a:endParaRPr lang="en-US" sz="1300" dirty="0"/>
          </a:p>
        </p:txBody>
      </p:sp>
      <p:sp>
        <p:nvSpPr>
          <p:cNvPr id="12" name="Error body 1"/>
          <p:cNvSpPr txBox="1"/>
          <p:nvPr/>
        </p:nvSpPr>
        <p:spPr>
          <a:xfrm>
            <a:off x="6126480" y="4218924"/>
            <a:ext cx="2438248" cy="58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Броня в навчанні лише гусенична: модель вивела правило «колеса + кабіна = вантажівка»</a:t>
            </a:r>
            <a:endParaRPr lang="en-US" sz="1100" dirty="0"/>
          </a:p>
        </p:txBody>
      </p:sp>
      <p:sp>
        <p:nvSpPr>
          <p:cNvPr id="13" name="Error card 2"/>
          <p:cNvSpPr/>
          <p:nvPr/>
        </p:nvSpPr>
        <p:spPr>
          <a:xfrm>
            <a:off x="8930488" y="2057400"/>
            <a:ext cx="2712568" cy="2834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4" name="Error photo 2" descr="Дрон → «бронетехніка», 72 %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488" y="2057400"/>
            <a:ext cx="2712568" cy="1750044"/>
          </a:xfrm>
          <a:prstGeom prst="rect">
            <a:avLst/>
          </a:prstGeom>
        </p:spPr>
      </p:pic>
      <p:sp>
        <p:nvSpPr>
          <p:cNvPr id="15" name="Error head 2"/>
          <p:cNvSpPr txBox="1"/>
          <p:nvPr/>
        </p:nvSpPr>
        <p:spPr>
          <a:xfrm>
            <a:off x="9067648" y="3898884"/>
            <a:ext cx="2438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Дрон → «бронетехніка», 72 %</a:t>
            </a:r>
            <a:endParaRPr lang="en-US" sz="1300" dirty="0"/>
          </a:p>
        </p:txBody>
      </p:sp>
      <p:sp>
        <p:nvSpPr>
          <p:cNvPr id="16" name="Error body 2"/>
          <p:cNvSpPr txBox="1"/>
          <p:nvPr/>
        </p:nvSpPr>
        <p:spPr>
          <a:xfrm>
            <a:off x="9067648" y="4218924"/>
            <a:ext cx="2438248" cy="58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Квадрокоптер — мала частка кадру; переважають камуфляж і зброя</a:t>
            </a:r>
            <a:endParaRPr lang="en-US" sz="1100" dirty="0"/>
          </a:p>
        </p:txBody>
      </p:sp>
      <p:sp>
        <p:nvSpPr>
          <p:cNvPr id="17" name="Conclusion Переваги"/>
          <p:cNvSpPr/>
          <p:nvPr/>
        </p:nvSpPr>
        <p:spPr>
          <a:xfrm>
            <a:off x="548640" y="5120640"/>
            <a:ext cx="3545738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/>
        </p:spPr>
      </p:sp>
      <p:pic>
        <p:nvPicPr>
          <p:cNvPr id="18" name="Conclusion icon Переваги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03520"/>
            <a:ext cx="237744" cy="237744"/>
          </a:xfrm>
          <a:prstGeom prst="rect">
            <a:avLst/>
          </a:prstGeom>
        </p:spPr>
      </p:pic>
      <p:sp>
        <p:nvSpPr>
          <p:cNvPr id="19" name="Conclusion head Переваги"/>
          <p:cNvSpPr txBox="1"/>
          <p:nvPr/>
        </p:nvSpPr>
        <p:spPr>
          <a:xfrm>
            <a:off x="1060704" y="5276088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Переваги</a:t>
            </a:r>
            <a:endParaRPr lang="en-US" sz="1300" dirty="0"/>
          </a:p>
        </p:txBody>
      </p:sp>
      <p:sp>
        <p:nvSpPr>
          <p:cNvPr id="20" name="Conclusion body Переваги"/>
          <p:cNvSpPr txBox="1"/>
          <p:nvPr/>
        </p:nvSpPr>
        <p:spPr>
          <a:xfrm>
            <a:off x="731520" y="5596128"/>
            <a:ext cx="32256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60 фото і 2 хв на CPU замість тисяч знімків і GPU: ознаки форм уже вивчені на ImageNet</a:t>
            </a:r>
            <a:endParaRPr lang="en-US" sz="1100" dirty="0"/>
          </a:p>
        </p:txBody>
      </p:sp>
      <p:sp>
        <p:nvSpPr>
          <p:cNvPr id="21" name="Conclusion Обмеження"/>
          <p:cNvSpPr/>
          <p:nvPr/>
        </p:nvSpPr>
        <p:spPr>
          <a:xfrm>
            <a:off x="4322978" y="5120640"/>
            <a:ext cx="3545738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/>
        </p:spPr>
      </p:sp>
      <p:pic>
        <p:nvPicPr>
          <p:cNvPr id="22" name="Conclusion icon Обмеження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858" y="5303520"/>
            <a:ext cx="237744" cy="237744"/>
          </a:xfrm>
          <a:prstGeom prst="rect">
            <a:avLst/>
          </a:prstGeom>
        </p:spPr>
      </p:pic>
      <p:sp>
        <p:nvSpPr>
          <p:cNvPr id="23" name="Conclusion head Обмеження"/>
          <p:cNvSpPr txBox="1"/>
          <p:nvPr/>
        </p:nvSpPr>
        <p:spPr>
          <a:xfrm>
            <a:off x="4835042" y="5276088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Обмеження</a:t>
            </a:r>
            <a:endParaRPr lang="en-US" sz="1300" dirty="0"/>
          </a:p>
        </p:txBody>
      </p:sp>
      <p:sp>
        <p:nvSpPr>
          <p:cNvPr id="24" name="Conclusion body Обмеження"/>
          <p:cNvSpPr txBox="1"/>
          <p:nvPr/>
        </p:nvSpPr>
        <p:spPr>
          <a:xfrm>
            <a:off x="4505858" y="5596128"/>
            <a:ext cx="32256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Малий тест; немає класу «інше»; колісна броня плутається з вантажівками; малі об’єкти</a:t>
            </a:r>
            <a:endParaRPr lang="en-US" sz="1100" dirty="0"/>
          </a:p>
        </p:txBody>
      </p:sp>
      <p:sp>
        <p:nvSpPr>
          <p:cNvPr id="25" name="Conclusion Як оцінено"/>
          <p:cNvSpPr/>
          <p:nvPr/>
        </p:nvSpPr>
        <p:spPr>
          <a:xfrm>
            <a:off x="8097317" y="5120640"/>
            <a:ext cx="3545738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/>
        </p:spPr>
      </p:sp>
      <p:pic>
        <p:nvPicPr>
          <p:cNvPr id="26" name="Conclusion icon Як оцінено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197" y="5303520"/>
            <a:ext cx="237744" cy="237744"/>
          </a:xfrm>
          <a:prstGeom prst="rect">
            <a:avLst/>
          </a:prstGeom>
        </p:spPr>
      </p:pic>
      <p:sp>
        <p:nvSpPr>
          <p:cNvPr id="27" name="Conclusion head Як оцінено"/>
          <p:cNvSpPr txBox="1"/>
          <p:nvPr/>
        </p:nvSpPr>
        <p:spPr>
          <a:xfrm>
            <a:off x="8609381" y="5276088"/>
            <a:ext cx="29056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Як оцінено</a:t>
            </a:r>
            <a:endParaRPr lang="en-US" sz="1300" dirty="0"/>
          </a:p>
        </p:txBody>
      </p:sp>
      <p:sp>
        <p:nvSpPr>
          <p:cNvPr id="28" name="Conclusion body Як оцінено"/>
          <p:cNvSpPr txBox="1"/>
          <p:nvPr/>
        </p:nvSpPr>
        <p:spPr>
          <a:xfrm>
            <a:off x="8280197" y="5596128"/>
            <a:ext cx="32256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Відкладений тест, складний набір, аналіз впевненості: прогноз &lt; 70 % — на перевірку оператору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Olive">
  <a:themeElements>
    <a:clrScheme name="Field Olive">
      <a:dk1>
        <a:srgbClr val="141912"/>
      </a:dk1>
      <a:lt1>
        <a:srgbClr val="F2F4EE"/>
      </a:lt1>
      <a:dk2>
        <a:srgbClr val="242C21"/>
      </a:dk2>
      <a:lt2>
        <a:srgbClr val="A9B39E"/>
      </a:lt2>
      <a:accent1>
        <a:srgbClr val="D4AA2E"/>
      </a:accent1>
      <a:accent2>
        <a:srgbClr val="7FB069"/>
      </a:accent2>
      <a:accent3>
        <a:srgbClr val="5AA9E6"/>
      </a:accent3>
      <a:accent4>
        <a:srgbClr val="D2664B"/>
      </a:accent4>
      <a:accent5>
        <a:srgbClr val="3A4A33"/>
      </a:accent5>
      <a:accent6>
        <a:srgbClr val="8C9A7E"/>
      </a:accent6>
      <a:hlink>
        <a:srgbClr val="D4AA2E"/>
      </a:hlink>
      <a:folHlink>
        <a:srgbClr val="A9B39E"/>
      </a:folHlink>
    </a:clrScheme>
    <a:fontScheme name="Field Oli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Розпізнавач техніки — практична 4.13</dc:title>
  <dc:subject>PptxGenJS Presentation</dc:subject>
  <dc:creator>Щербаков Б.</dc:creator>
  <cp:lastModifiedBy>Щербаков Б.</cp:lastModifiedBy>
  <cp:revision>1</cp:revision>
  <dcterms:created xsi:type="dcterms:W3CDTF">2026-10-15T06:51:06Z</dcterms:created>
  <dcterms:modified xsi:type="dcterms:W3CDTF">2026-10-15T06:51:06Z</dcterms:modified>
</cp:coreProperties>
</file>