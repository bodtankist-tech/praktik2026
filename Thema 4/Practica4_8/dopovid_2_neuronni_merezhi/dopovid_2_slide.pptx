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Вступ. Шановний викладачу, шановні колеги! Тема доповіді — «Штучні нейронні мережі: структура та принцип навчання». З урахуванням того, що методи глибокого навчання дедалі ширше застосовуються в системах інформаційно-аналітичного забезпечення органів військового управління (ОУВ), розуміння внутрішньої будови нейронної мережі та механізму її навчання є необхідною умовою коректного використання таких моделей і критичної оцінки отриманих ними результатів. Доповідь побудована за логікою: структура мережі, принцип навчання, особливості мережі, побудованої в практичній роботі 4.8, отримані результати та висновки.</a:t>
            </a:r>
          </a:p>
          <a:p>
            <a:r>
              <a:t>Структура. Штучна нейронна мережа (ШНМ) — це параметрична математична модель, яка перетворює вхідні ознаки на прогноз за допомогою великої кількості налаштовуваних коефіцієнтів, що називаються вагами. Базовим елементом ШНМ є нейрон, який множить кожне вхідне значення на відповідну вагу, підсумовує отримані добутки разом зі зсувом і пропускає результат через функцію активації. Нейрони об'єднуються в шари: вхідний шар лише приймає ознаки, приховані шари виконують основні обчислення, а вихідний шар формує відповідь. Складовими частинами повнозв'язної мережі є саме такі шари, у яких кожен нейрон з'єднаний з усіма нейронами наступного шару. У прихованих шарах застосовано функцію активації ReLU, яка обнуляє від'ємні значення; саме нелінійна активація забезпечує здатність мережі описувати складні залежності, оскільки без неї будь-яка кількість шарів зводиться до однієї лінійної моделі. Вихідний шар визначається типом задачі: для регресії це один нейрон без активації, для класифікації — по одному нейрону на кожен клас із функцією softmax, яка перетворює вихідні значення на ймовірності.</a:t>
            </a:r>
          </a:p>
          <a:p>
            <a:r>
              <a:t>Принцип навчання. Навчання ШНМ є ітераційним процесом, що складається з чотирьох послідовних етапів. На першому етапі виконується прямий прохід: дані проходять через мережу, і вона формує прогноз. На другому етапі функція втрат кількісно оцінює відхилення прогнозу від правильної відповіді; для регресії використано середньоквадратичну помилку (MSE), для класифікації — крос-ентропію. На третьому етапі алгоритм зворотного поширення помилки за правилом ланцюга обчислює градієнт, тобто внесок кожної ваги в загальну помилку. На четвертому етапі ваги коригуються в напрямку зменшення помилки; з цією метою застосовано оптимізатор Adam зі швидкістю навчання 0,001, який автоматично адаптує крок для кожної ваги. Дані подаються порціями по 64 приклади, а повний прохід усією навчальною вибіркою становить одну епоху.</a:t>
            </a:r>
          </a:p>
          <a:p>
            <a:r>
              <a:t>З метою недопущення перенавчання, тобто запам'ятовування мережею навчальних прикладів замість виявлення загальних закономірностей, застосовано три заходи. Так, з навчальних даних виділено валідаційну вибірку та налаштовано ранню зупинку: якщо помилка на ній не зменшується протягом 15 епох, навчання припиняється, а мережа повертається до найкращого стану. Одночасно з цим у класифікаційній мережі після кожного прихованого шару застосовано Dropout 0,3, за якого під час навчання випадково вимикаються 30 % нейронів. Крім того, параметри стандартизації ознак розраховувалися виключно за навчальною вибіркою, а тестова вибірка використовувалася лише для остаточної оцінки.</a:t>
            </a:r>
          </a:p>
          <a:p>
            <a:r>
              <a:t>Особливості побудованої мережі. У практичній роботі 4.8 відповідно до варіанта N = 7 згенеровано по 7000 спостережень і побудовано дві мережі. Регресійна мережа має архітектуру 8 → 64 → 64 → 32 → 1 і 6 849 параметрів; класифікаційна — 20 → 128 → 64 → 9 і 11 529 параметрів, де кількість вихідних нейронів визначено як N + 2. Від інших типів мереж побудовані моделі відрізняються таким. По-перше, це багатошаровий перцептрон прямого поширення, а не згорткова чи рекурентна мережа, оскільки вхідні дані є табличними та не мають просторової чи часової структури. По-друге, мережі мають невеликий обсяг — тисячі, а не мільйони параметрів, що відповідає складності задачі. По-третє, вихідний шар і функція втрат узгоджені з типом задачі. По-четверте, в архітектуру закладено комплекс заходів протидії перенавчанню.</a:t>
            </a:r>
          </a:p>
          <a:p>
            <a:r>
              <a:t>Результати. Встановлено, що в задачі регресії нейронна мережа забезпечила MSE 807 проти 5300 у лінійної регресії, тобто помилка зменшилася приблизно в 6,5 раза, а коефіцієнт детермінації зріс з 0,863 до 0,979. Причиною є наявність у даних нелінійних складових — параболічної та синусоїдальної, — які лінійна модель не відтворює. У задачі класифікації точність мережі становить 0,786 проти 0,436 у логістичної регресії та 0,111 у разі випадкового вгадування серед дев'яти класів. Навчання завершилося на 55-й епосі для регресії та на 216-й для класифікації. Водночас слід враховувати обмеження: у регресійній мережі розрив між помилками на навчальній і валідаційній вибірках свідчить про початок перенавчання, яке було стримане ранньою зупинкою, а дані є синтетичними, тому отримані результати підтверджують здатність мережі описувати нелінійні залежності, але не гарантують такої ж якості на реальних даних.</a:t>
            </a:r>
          </a:p>
          <a:p>
            <a:r>
              <a:t>Висновок. Таким чином, штучна нейронна мережа складається з шарів нейронів із налаштовуваними вагами та нелінійними функціями активації, а її навчання полягає в циклічному повторенні прямого проходу, оцінювання помилки, зворотного поширення та коригування ваг. Побудований у практичній роботі багатошаровий перцептрон, адаптований до табличних даних, суттєво перевершив лінійні моделі, що підтверджує доцільність застосування нейронних мереж за наявності нелінійних залежностей у даних. Доповідь закінчено. Дякую за увагу.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Штучні нейронні мережі: структура та принцип навчання</a:t>
            </a:r>
            <a:endParaRPr lang="en-US" sz="1900" dirty="0"/>
          </a:p>
        </p:txBody>
      </p:sp>
      <p:sp>
        <p:nvSpPr>
          <p:cNvPr id="3" name="Підзаголовок"/>
          <p:cNvSpPr txBox="1"/>
          <p:nvPr/>
        </p:nvSpPr>
        <p:spPr>
          <a:xfrm>
            <a:off x="365760" y="67665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Практична 4.8 · моя мережа: багатошаровий перцептрон (Keras)</a:t>
            </a:r>
            <a:endParaRPr lang="en-US" sz="1200" dirty="0"/>
          </a:p>
        </p:txBody>
      </p:sp>
      <p:sp>
        <p:nvSpPr>
          <p:cNvPr id="4" name="Панель схеми"/>
          <p:cNvSpPr/>
          <p:nvPr/>
        </p:nvSpPr>
        <p:spPr>
          <a:xfrm>
            <a:off x="365760" y="1051560"/>
            <a:ext cx="4892040" cy="2606040"/>
          </a:xfrm>
          <a:prstGeom prst="roundRect">
            <a:avLst>
              <a:gd name="adj" fmla="val 280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1155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Структура: 20 → 128 → 64 → 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1481328"/>
            <a:ext cx="109728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481328"/>
            <a:ext cx="1097280" cy="288950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1481328"/>
            <a:ext cx="1097280" cy="57790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481328"/>
            <a:ext cx="1097280" cy="86685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81328"/>
            <a:ext cx="1097280" cy="115580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1481328"/>
            <a:ext cx="109728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68680" y="1481328"/>
            <a:ext cx="109728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68680" y="1770278"/>
            <a:ext cx="1097280" cy="7223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1842516"/>
            <a:ext cx="1097280" cy="21671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1842516"/>
            <a:ext cx="1097280" cy="50566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1842516"/>
            <a:ext cx="1097280" cy="79461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1842516"/>
            <a:ext cx="109728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868680" y="1481328"/>
            <a:ext cx="109728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68680" y="1770278"/>
            <a:ext cx="1097280" cy="43342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868680" y="2059229"/>
            <a:ext cx="1097280" cy="144475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" y="2203704"/>
            <a:ext cx="1097280" cy="144475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2203704"/>
            <a:ext cx="1097280" cy="43342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2203704"/>
            <a:ext cx="109728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868680" y="1481328"/>
            <a:ext cx="109728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68680" y="1770278"/>
            <a:ext cx="1097280" cy="79461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868680" y="2059229"/>
            <a:ext cx="1097280" cy="50566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868680" y="2348179"/>
            <a:ext cx="1097280" cy="21671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" y="2564892"/>
            <a:ext cx="1097280" cy="7223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2564892"/>
            <a:ext cx="109728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68680" y="1481328"/>
            <a:ext cx="109728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868680" y="1770278"/>
            <a:ext cx="1097280" cy="115580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868680" y="2059229"/>
            <a:ext cx="1097280" cy="86685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868680" y="2348179"/>
            <a:ext cx="1097280" cy="57790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868680" y="2637130"/>
            <a:ext cx="1097280" cy="288950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" y="2926080"/>
            <a:ext cx="109728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65960" y="1481328"/>
            <a:ext cx="109728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65960" y="1481328"/>
            <a:ext cx="109728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65960" y="1481328"/>
            <a:ext cx="109728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65960" y="1481328"/>
            <a:ext cx="109728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65960" y="1481328"/>
            <a:ext cx="109728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965960" y="1481328"/>
            <a:ext cx="1097280" cy="288950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65960" y="1770278"/>
            <a:ext cx="1097280" cy="7223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65960" y="1770278"/>
            <a:ext cx="1097280" cy="43342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65960" y="1770278"/>
            <a:ext cx="1097280" cy="79461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960" y="1770278"/>
            <a:ext cx="1097280" cy="115580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965960" y="1481328"/>
            <a:ext cx="1097280" cy="57790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965960" y="1842516"/>
            <a:ext cx="1097280" cy="21671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65960" y="2059229"/>
            <a:ext cx="1097280" cy="144475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65960" y="2059229"/>
            <a:ext cx="1097280" cy="50566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65960" y="2059229"/>
            <a:ext cx="1097280" cy="86685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965960" y="1481328"/>
            <a:ext cx="1097280" cy="86685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965960" y="1842516"/>
            <a:ext cx="1097280" cy="50566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965960" y="2203704"/>
            <a:ext cx="1097280" cy="144475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5960" y="2348179"/>
            <a:ext cx="1097280" cy="21671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965960" y="2348179"/>
            <a:ext cx="1097280" cy="57790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965960" y="1481328"/>
            <a:ext cx="1097280" cy="115580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965960" y="1842516"/>
            <a:ext cx="1097280" cy="79461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965960" y="2203704"/>
            <a:ext cx="1097280" cy="43342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965960" y="2564892"/>
            <a:ext cx="1097280" cy="7223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65960" y="2637130"/>
            <a:ext cx="1097280" cy="288950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965960" y="1481328"/>
            <a:ext cx="109728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965960" y="1842516"/>
            <a:ext cx="109728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965960" y="2203704"/>
            <a:ext cx="109728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965960" y="2564892"/>
            <a:ext cx="109728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965960" y="2926080"/>
            <a:ext cx="109728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63240" y="1481328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063240" y="1481328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063240" y="1481328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63240" y="1481328"/>
            <a:ext cx="118872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063240" y="1481328"/>
            <a:ext cx="118872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3063240" y="1481328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63240" y="1842516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063240" y="1842516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063240" y="1842516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063240" y="1842516"/>
            <a:ext cx="118872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3063240" y="1481328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3063240" y="1842516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063240" y="2203704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063240" y="2203704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063240" y="2203704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3063240" y="1481328"/>
            <a:ext cx="118872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3063240" y="1842516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3063240" y="2203704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063240" y="2564892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63240" y="2564892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3063240" y="1481328"/>
            <a:ext cx="118872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3063240" y="1842516"/>
            <a:ext cx="118872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3063240" y="2203704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3063240" y="2564892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63240" y="2926080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77240" y="1389888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77240" y="1751076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77240" y="2112264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77240" y="2473452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77240" y="2834640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274320" y="30358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228600" y="3227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ознак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1874520" y="1389888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74520" y="1678838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874520" y="1967789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874520" y="2256739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874520" y="2545690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874520" y="2834640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1371600" y="30358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128</a:t>
            </a:r>
            <a:endParaRPr lang="en-US" sz="1100" dirty="0"/>
          </a:p>
        </p:txBody>
      </p:sp>
      <p:sp>
        <p:nvSpPr>
          <p:cNvPr id="105" name="Text 103"/>
          <p:cNvSpPr txBox="1"/>
          <p:nvPr/>
        </p:nvSpPr>
        <p:spPr>
          <a:xfrm>
            <a:off x="1325880" y="3227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971800" y="1389888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71800" y="1751076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71800" y="2112264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971800" y="2473452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971800" y="2834640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468880" y="30358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</a:t>
            </a:r>
            <a:endParaRPr lang="en-US" sz="1100" dirty="0"/>
          </a:p>
        </p:txBody>
      </p:sp>
      <p:sp>
        <p:nvSpPr>
          <p:cNvPr id="112" name="Text 110"/>
          <p:cNvSpPr txBox="1"/>
          <p:nvPr/>
        </p:nvSpPr>
        <p:spPr>
          <a:xfrm>
            <a:off x="2423160" y="3227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160520" y="1389888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160520" y="1751076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160520" y="2112264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160520" y="2473452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160520" y="2834640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3657600" y="30358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</a:t>
            </a:r>
            <a:endParaRPr lang="en-US" sz="1100" dirty="0"/>
          </a:p>
        </p:txBody>
      </p:sp>
      <p:sp>
        <p:nvSpPr>
          <p:cNvPr id="119" name="Text 117"/>
          <p:cNvSpPr txBox="1"/>
          <p:nvPr/>
        </p:nvSpPr>
        <p:spPr>
          <a:xfrm>
            <a:off x="3611880" y="3227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класів, softmax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502920" y="343814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0,3 між прихованими шарами</a:t>
            </a:r>
            <a:endParaRPr lang="en-US" sz="950" dirty="0"/>
          </a:p>
        </p:txBody>
      </p:sp>
      <p:sp>
        <p:nvSpPr>
          <p:cNvPr id="121" name="Панель навчання"/>
          <p:cNvSpPr/>
          <p:nvPr/>
        </p:nvSpPr>
        <p:spPr>
          <a:xfrm>
            <a:off x="5440680" y="1051560"/>
            <a:ext cx="3337560" cy="2606040"/>
          </a:xfrm>
          <a:prstGeom prst="roundRect">
            <a:avLst>
              <a:gd name="adj" fmla="val 2807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23560" y="1115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мережа вчиться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5623560" y="1472184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562356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016752" y="14264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Прямий прохід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→ прогноз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5623560" y="2020824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562356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016752" y="197510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втрат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(регресія), крос-ентропія (класи)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5623560" y="2569464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5623560" y="2569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016752" y="25237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Зворотне поширення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 помилки для кожної ваги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5623560" y="3118104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5623560" y="3118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016752" y="307238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 ваг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швидкість 0,001; повтор за епохами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365760" y="37673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відрізняє мою мережу</a:t>
            </a:r>
            <a:endParaRPr lang="en-US" sz="1200" dirty="0"/>
          </a:p>
        </p:txBody>
      </p:sp>
      <p:sp>
        <p:nvSpPr>
          <p:cNvPr id="136" name="Shape 134"/>
          <p:cNvSpPr/>
          <p:nvPr/>
        </p:nvSpPr>
        <p:spPr>
          <a:xfrm>
            <a:off x="365760" y="4041648"/>
            <a:ext cx="2011680" cy="896112"/>
          </a:xfrm>
          <a:prstGeom prst="roundRect">
            <a:avLst>
              <a:gd name="adj" fmla="val 61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65760" y="4169664"/>
            <a:ext cx="45720" cy="6400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502920" y="4078224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Повнозв'язна MLP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3E4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CNN і не RNN: табличні ознаки без просторової структури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2499055" y="4041648"/>
            <a:ext cx="2011680" cy="896112"/>
          </a:xfrm>
          <a:prstGeom prst="roundRect">
            <a:avLst>
              <a:gd name="adj" fmla="val 61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99055" y="4169664"/>
            <a:ext cx="45720" cy="6400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2636215" y="4078224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11 529 параметрів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3E4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мала мережа (регресійна: 6 849), тисячі, а не мільйони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4632350" y="4041648"/>
            <a:ext cx="2011680" cy="896112"/>
          </a:xfrm>
          <a:prstGeom prst="roundRect">
            <a:avLst>
              <a:gd name="adj" fmla="val 61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632350" y="4169664"/>
            <a:ext cx="45720" cy="64008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4769510" y="4078224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0,786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3E4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логістична регресія 0,436; випадково 0,111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765646" y="4041648"/>
            <a:ext cx="2011680" cy="896112"/>
          </a:xfrm>
          <a:prstGeom prst="roundRect">
            <a:avLst>
              <a:gd name="adj" fmla="val 61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765646" y="4169664"/>
            <a:ext cx="45720" cy="64008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902806" y="4078224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807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3E4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регресія 5300: тобто ≈ 6,5 раза більша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Штучні нейронні мережі: структура та принцип навчання</dc:title>
  <dc:subject>PptxGenJS Presentation</dc:subject>
  <dc:creator>Щербаков Богдан Володимирович</dc:creator>
  <cp:lastModifiedBy>Щербаков Богдан Володимирович</cp:lastModifiedBy>
  <cp:revision>1</cp:revision>
  <dcterms:created xsi:type="dcterms:W3CDTF">2026-10-02T15:11:35Z</dcterms:created>
  <dcterms:modified xsi:type="dcterms:W3CDTF">2026-10-02T15:11:35Z</dcterms:modified>
</cp:coreProperties>
</file>