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Структура. Штучна нейронна мережа (ШНМ) є параметричною математичною моделлю, яка перетворює вхідні ознаки на прогноз за допомогою налаштовуваних коефіцієнтів, що називаються вагами. Базовий елемент ШНМ, нейрон, множить кожне вхідне значення на відповідну вагу, додає зсув і передає суму у функцію активації. Нейрони утворюють шари: вхідний шар приймає ознаки, приховані шари виконують основні обчислення, вихідний шар формує відповідь. У повнозв'язній мережі кожен нейрон шару з'єднаний з усіма нейронами наступного шару. У прихованих шарах я застосував функцію активації ReLU, яка обнуляє від'ємні значення. Без нелінійної активації будь-яка кількість шарів зводиться до однієї лінійної моделі, тому саме ReLU дає мережі змогу описувати складні залежності. Вихідний шар я узгодив з типом задачі: для регресії це один нейрон без активації, для класифікації по одному нейрону на кожен клас із функцією softmax, яка перетворює вихідні значення на ймовірності.</a:t>
            </a:r>
          </a:p>
          <a:p>
            <a:r>
              <a:t>Принцип навчання. Навчання ШНМ складається з чотирьох етапів, які повторюються до завершення процесу. Під час прямого проходу мережа отримує дані та формує прогноз. Функція втрат оцінює відхилення прогнозу від правильної відповіді; для регресії я використав середньоквадратичну помилку (MSE), для класифікації крос-ентропію. Алгоритм зворотного поширення помилки за правилом ланцюга обчислює градієнт, тобто внесок кожної ваги в загальну помилку. Оптимізатор Adam зі швидкістю навчання 0,001 коригує ваги в напрямку зменшення помилки й адаптує крок окремо для кожної ваги. Мережа отримує дані порціями по 64 приклади, а повний прохід навчальною вибіркою становить одну епоху.</a:t>
            </a:r>
          </a:p>
          <a:p>
            <a:r>
              <a:t>З метою недопущення перенавчання, за якого мережа запам'ятовує навчальні приклади замість загальних закономірностей, я вжив три заходи. Я виділив з навчальних даних валідаційну вибірку та налаштував ранню зупинку: якщо помилка на ній не зменшується 15 епох поспіль, навчання припиняється, а мережа повертається до найкращого стану. У класифікаційній мережі після кожного прихованого шару я додав Dropout 0,3, який під час навчання випадково вимикає 30 % нейронів. Параметри стандартизації ознак я розраховував лише за навчальною вибіркою, а тестову вибірку використав один раз, для остаточної оцінки.</a:t>
            </a:r>
          </a:p>
          <a:p>
            <a:r>
              <a:t>Особливості побудованої мережі. Відповідно до варіанта N = 7 я згенерував по 7000 спостережень і побудував дві мережі. Регресійна мережа має архітектуру 8 → 64 → 64 → 32 → 1 і 6 849 параметрів. Класифікаційна мережа має архітектуру 20 → 128 → 64 → 9 і 11 529 параметрів; кількість вихідних нейронів дорівнює N + 2. Обидві моделі є багатошаровими перцептронами прямого поширення. Згорткову чи рекурентну мережу я не обирав, оскільки вхідні дані табличні та не мають просторової чи часової структури. Обсяг у кілька тисяч параметрів відповідає складності задачі.</a:t>
            </a:r>
          </a:p>
          <a:p>
            <a:r>
              <a:t>Результати. Встановлено, що в задачі регресії нейронна мережа дала MSE 807, а лінійна регресія 5300. Помилка зменшилася приблизно в 6,5 раза, коефіцієнт детермінації зріс з 0,863 до 0,979. Лінійна модель не відтворює параболічну та синусоїдальну складові, які я заклав у дані, а мережа їх вловлює. У задачі класифікації точність мережі становить 0,786, логістичної регресії 0,436, випадкового вгадування серед дев'яти класів 0,111. Регресійна мережа завершила навчання на 55-й епосі, класифікаційна на 216-й. З урахуванням обмежень слід зазначити два моменти. Помилка регресійної мережі на навчальній вибірці продовжувала знижуватися приблизно до 350, тоді як на валідаційній зупинилася на рівні близько 800; цей розрив свідчить про початок перенавчання, яке стримала рання зупинка. Крім того, дані синтетичні, тому на реальних даних якість потребує окремої перевірки.</a:t>
            </a:r>
          </a:p>
          <a:p>
            <a:r>
              <a:t>Висновок. Таким чином, ШНМ складається з шарів нейронів із налаштовуваними вагами та нелінійними функціями активації, а навчання полягає в циклічному повторенні прямого проходу, оцінювання помилки, зворотного поширення та коригування ваг. Багатошаровий перцептрон, який я побудував для табличних даних, суттєво перевершив лінійні моделі. Отже, за наявності нелінійних залежностей у даних застосування нейронних мереж доцільне. Доповідь закінчено. Дякую за увагу.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365760" y="20116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Штучні нейронні мережі: структура та принцип навчання</a:t>
            </a:r>
            <a:endParaRPr lang="en-US" sz="1900" dirty="0"/>
          </a:p>
        </p:txBody>
      </p:sp>
      <p:sp>
        <p:nvSpPr>
          <p:cNvPr id="3" name="Підзаголовок"/>
          <p:cNvSpPr txBox="1"/>
          <p:nvPr/>
        </p:nvSpPr>
        <p:spPr>
          <a:xfrm>
            <a:off x="365760" y="676656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Практична 4.8 · моя мережа: багатошаровий перцептрон (Keras)</a:t>
            </a:r>
            <a:endParaRPr lang="en-US" sz="1200" dirty="0"/>
          </a:p>
        </p:txBody>
      </p:sp>
      <p:sp>
        <p:nvSpPr>
          <p:cNvPr id="4" name="Панель схеми"/>
          <p:cNvSpPr/>
          <p:nvPr/>
        </p:nvSpPr>
        <p:spPr>
          <a:xfrm>
            <a:off x="365760" y="1051560"/>
            <a:ext cx="4892040" cy="2606040"/>
          </a:xfrm>
          <a:prstGeom prst="roundRect">
            <a:avLst>
              <a:gd name="adj" fmla="val 280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1155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Структура: 20 → 128 → 64 → 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68680" y="1481328"/>
            <a:ext cx="1097280" cy="9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481328"/>
            <a:ext cx="1097280" cy="288950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1481328"/>
            <a:ext cx="1097280" cy="57790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1481328"/>
            <a:ext cx="1097280" cy="86685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481328"/>
            <a:ext cx="1097280" cy="1155802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1481328"/>
            <a:ext cx="1097280" cy="1444752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68680" y="1481328"/>
            <a:ext cx="1097280" cy="36118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68680" y="1770278"/>
            <a:ext cx="1097280" cy="7223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8680" y="1842516"/>
            <a:ext cx="1097280" cy="216713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1842516"/>
            <a:ext cx="1097280" cy="505663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1842516"/>
            <a:ext cx="1097280" cy="794614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8680" y="1842516"/>
            <a:ext cx="1097280" cy="1083564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868680" y="1481328"/>
            <a:ext cx="1097280" cy="72237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868680" y="1770278"/>
            <a:ext cx="1097280" cy="43342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868680" y="2059229"/>
            <a:ext cx="1097280" cy="144475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" y="2203704"/>
            <a:ext cx="1097280" cy="144475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8680" y="2203704"/>
            <a:ext cx="1097280" cy="43342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" y="2203704"/>
            <a:ext cx="1097280" cy="72237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868680" y="1481328"/>
            <a:ext cx="1097280" cy="1083564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868680" y="1770278"/>
            <a:ext cx="1097280" cy="794614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868680" y="2059229"/>
            <a:ext cx="1097280" cy="505663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868680" y="2348179"/>
            <a:ext cx="1097280" cy="216713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8680" y="2564892"/>
            <a:ext cx="1097280" cy="7223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8680" y="2564892"/>
            <a:ext cx="1097280" cy="36118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68680" y="1481328"/>
            <a:ext cx="1097280" cy="1444752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868680" y="1770278"/>
            <a:ext cx="1097280" cy="1155802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868680" y="2059229"/>
            <a:ext cx="1097280" cy="86685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868680" y="2348179"/>
            <a:ext cx="1097280" cy="57790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868680" y="2637130"/>
            <a:ext cx="1097280" cy="288950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68680" y="2926080"/>
            <a:ext cx="1097280" cy="9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65960" y="1481328"/>
            <a:ext cx="1097280" cy="9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965960" y="1481328"/>
            <a:ext cx="1097280" cy="36118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965960" y="1481328"/>
            <a:ext cx="1097280" cy="72237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65960" y="1481328"/>
            <a:ext cx="1097280" cy="1083564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65960" y="1481328"/>
            <a:ext cx="1097280" cy="1444752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1965960" y="1481328"/>
            <a:ext cx="1097280" cy="288950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65960" y="1770278"/>
            <a:ext cx="1097280" cy="7223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65960" y="1770278"/>
            <a:ext cx="1097280" cy="43342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65960" y="1770278"/>
            <a:ext cx="1097280" cy="794614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65960" y="1770278"/>
            <a:ext cx="1097280" cy="1155802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965960" y="1481328"/>
            <a:ext cx="1097280" cy="57790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965960" y="1842516"/>
            <a:ext cx="1097280" cy="216713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65960" y="2059229"/>
            <a:ext cx="1097280" cy="144475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65960" y="2059229"/>
            <a:ext cx="1097280" cy="505663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965960" y="2059229"/>
            <a:ext cx="1097280" cy="86685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965960" y="1481328"/>
            <a:ext cx="1097280" cy="86685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1965960" y="1842516"/>
            <a:ext cx="1097280" cy="505663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1965960" y="2203704"/>
            <a:ext cx="1097280" cy="144475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965960" y="2348179"/>
            <a:ext cx="1097280" cy="216713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965960" y="2348179"/>
            <a:ext cx="1097280" cy="57790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1965960" y="1481328"/>
            <a:ext cx="1097280" cy="1155802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1965960" y="1842516"/>
            <a:ext cx="1097280" cy="794614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1965960" y="2203704"/>
            <a:ext cx="1097280" cy="43342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1965960" y="2564892"/>
            <a:ext cx="1097280" cy="7223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965960" y="2637130"/>
            <a:ext cx="1097280" cy="288950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1965960" y="1481328"/>
            <a:ext cx="1097280" cy="1444752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1965960" y="1842516"/>
            <a:ext cx="1097280" cy="1083564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1965960" y="2203704"/>
            <a:ext cx="1097280" cy="72237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1965960" y="2564892"/>
            <a:ext cx="1097280" cy="36118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965960" y="2926080"/>
            <a:ext cx="1097280" cy="9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63240" y="1481328"/>
            <a:ext cx="1188720" cy="9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063240" y="1481328"/>
            <a:ext cx="1188720" cy="36118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063240" y="1481328"/>
            <a:ext cx="1188720" cy="72237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063240" y="1481328"/>
            <a:ext cx="1188720" cy="1083564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063240" y="1481328"/>
            <a:ext cx="1188720" cy="1444752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 flipV="1">
            <a:off x="3063240" y="1481328"/>
            <a:ext cx="1188720" cy="36118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063240" y="1842516"/>
            <a:ext cx="1188720" cy="9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063240" y="1842516"/>
            <a:ext cx="1188720" cy="36118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063240" y="1842516"/>
            <a:ext cx="1188720" cy="72237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063240" y="1842516"/>
            <a:ext cx="1188720" cy="1083564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3063240" y="1481328"/>
            <a:ext cx="1188720" cy="72237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3063240" y="1842516"/>
            <a:ext cx="1188720" cy="36118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063240" y="2203704"/>
            <a:ext cx="1188720" cy="9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063240" y="2203704"/>
            <a:ext cx="1188720" cy="36118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063240" y="2203704"/>
            <a:ext cx="1188720" cy="72237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3063240" y="1481328"/>
            <a:ext cx="1188720" cy="1083564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3063240" y="1842516"/>
            <a:ext cx="1188720" cy="72237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3063240" y="2203704"/>
            <a:ext cx="1188720" cy="36118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063240" y="2564892"/>
            <a:ext cx="1188720" cy="9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063240" y="2564892"/>
            <a:ext cx="1188720" cy="36118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3063240" y="1481328"/>
            <a:ext cx="1188720" cy="1444752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3063240" y="1842516"/>
            <a:ext cx="1188720" cy="1083564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3063240" y="2203704"/>
            <a:ext cx="1188720" cy="722376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3063240" y="2564892"/>
            <a:ext cx="1188720" cy="361188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063240" y="2926080"/>
            <a:ext cx="1188720" cy="91"/>
          </a:xfrm>
          <a:prstGeom prst="line">
            <a:avLst/>
          </a:prstGeom>
          <a:noFill/>
          <a:ln w="6350">
            <a:solidFill>
              <a:srgbClr val="B9C6D2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77240" y="1389888"/>
            <a:ext cx="182880" cy="182880"/>
          </a:xfrm>
          <a:prstGeom prst="ellipse">
            <a:avLst/>
          </a:prstGeom>
          <a:solidFill>
            <a:srgbClr val="8A99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77240" y="1751076"/>
            <a:ext cx="182880" cy="182880"/>
          </a:xfrm>
          <a:prstGeom prst="ellipse">
            <a:avLst/>
          </a:prstGeom>
          <a:solidFill>
            <a:srgbClr val="8A99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77240" y="2112264"/>
            <a:ext cx="182880" cy="182880"/>
          </a:xfrm>
          <a:prstGeom prst="ellipse">
            <a:avLst/>
          </a:prstGeom>
          <a:solidFill>
            <a:srgbClr val="8A99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77240" y="2473452"/>
            <a:ext cx="182880" cy="182880"/>
          </a:xfrm>
          <a:prstGeom prst="ellipse">
            <a:avLst/>
          </a:prstGeom>
          <a:solidFill>
            <a:srgbClr val="8A99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77240" y="2834640"/>
            <a:ext cx="182880" cy="182880"/>
          </a:xfrm>
          <a:prstGeom prst="ellipse">
            <a:avLst/>
          </a:prstGeom>
          <a:solidFill>
            <a:srgbClr val="8A99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274320" y="303580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228600" y="322783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ознак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1874520" y="1389888"/>
            <a:ext cx="182880" cy="1828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874520" y="1678838"/>
            <a:ext cx="182880" cy="1828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874520" y="1967789"/>
            <a:ext cx="182880" cy="1828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874520" y="2256739"/>
            <a:ext cx="182880" cy="1828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874520" y="2545690"/>
            <a:ext cx="182880" cy="1828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874520" y="2834640"/>
            <a:ext cx="182880" cy="1828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1371600" y="303580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128</a:t>
            </a:r>
            <a:endParaRPr lang="en-US" sz="1100" dirty="0"/>
          </a:p>
        </p:txBody>
      </p:sp>
      <p:sp>
        <p:nvSpPr>
          <p:cNvPr id="105" name="Text 103"/>
          <p:cNvSpPr txBox="1"/>
          <p:nvPr/>
        </p:nvSpPr>
        <p:spPr>
          <a:xfrm>
            <a:off x="1325880" y="322783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2971800" y="1389888"/>
            <a:ext cx="182880" cy="1828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971800" y="1751076"/>
            <a:ext cx="182880" cy="1828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971800" y="2112264"/>
            <a:ext cx="182880" cy="1828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971800" y="2473452"/>
            <a:ext cx="182880" cy="1828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971800" y="2834640"/>
            <a:ext cx="182880" cy="1828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468880" y="303580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64</a:t>
            </a:r>
            <a:endParaRPr lang="en-US" sz="1100" dirty="0"/>
          </a:p>
        </p:txBody>
      </p:sp>
      <p:sp>
        <p:nvSpPr>
          <p:cNvPr id="112" name="Text 110"/>
          <p:cNvSpPr txBox="1"/>
          <p:nvPr/>
        </p:nvSpPr>
        <p:spPr>
          <a:xfrm>
            <a:off x="2423160" y="322783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4160520" y="1389888"/>
            <a:ext cx="182880" cy="18288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160520" y="1751076"/>
            <a:ext cx="182880" cy="18288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160520" y="2112264"/>
            <a:ext cx="182880" cy="18288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160520" y="2473452"/>
            <a:ext cx="182880" cy="18288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4160520" y="2834640"/>
            <a:ext cx="182880" cy="18288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3657600" y="303580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</a:t>
            </a:r>
            <a:endParaRPr lang="en-US" sz="1100" dirty="0"/>
          </a:p>
        </p:txBody>
      </p:sp>
      <p:sp>
        <p:nvSpPr>
          <p:cNvPr id="119" name="Text 117"/>
          <p:cNvSpPr txBox="1"/>
          <p:nvPr/>
        </p:nvSpPr>
        <p:spPr>
          <a:xfrm>
            <a:off x="3611880" y="322783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класів, softmax</a:t>
            </a:r>
            <a:endParaRPr lang="en-US" sz="1000" dirty="0"/>
          </a:p>
        </p:txBody>
      </p:sp>
      <p:sp>
        <p:nvSpPr>
          <p:cNvPr id="120" name="Text 118"/>
          <p:cNvSpPr txBox="1"/>
          <p:nvPr/>
        </p:nvSpPr>
        <p:spPr>
          <a:xfrm>
            <a:off x="502920" y="343814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5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0,3 між прихованими шарами</a:t>
            </a:r>
            <a:endParaRPr lang="en-US" sz="950" dirty="0"/>
          </a:p>
        </p:txBody>
      </p:sp>
      <p:sp>
        <p:nvSpPr>
          <p:cNvPr id="121" name="Панель навчання"/>
          <p:cNvSpPr/>
          <p:nvPr/>
        </p:nvSpPr>
        <p:spPr>
          <a:xfrm>
            <a:off x="5440680" y="1051560"/>
            <a:ext cx="3337560" cy="2606040"/>
          </a:xfrm>
          <a:prstGeom prst="roundRect">
            <a:avLst>
              <a:gd name="adj" fmla="val 2807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23560" y="11155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мережа вчиться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5623560" y="1472184"/>
            <a:ext cx="274320" cy="27432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5623560" y="1472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016752" y="142646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Прямий прохід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C9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 → прогноз</a:t>
            </a:r>
            <a:endParaRPr lang="en-US" sz="1200" dirty="0"/>
          </a:p>
        </p:txBody>
      </p:sp>
      <p:sp>
        <p:nvSpPr>
          <p:cNvPr id="126" name="Shape 124"/>
          <p:cNvSpPr/>
          <p:nvPr/>
        </p:nvSpPr>
        <p:spPr>
          <a:xfrm>
            <a:off x="5623560" y="2020824"/>
            <a:ext cx="274320" cy="27432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5623560" y="2020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016752" y="197510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Функція втрат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C9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(регресія), крос-ентропія (класи)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5623560" y="2569464"/>
            <a:ext cx="274320" cy="27432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5623560" y="25694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016752" y="252374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Зворотне поширення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C9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градієнт помилки для кожної ваги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5623560" y="3118104"/>
            <a:ext cx="274320" cy="27432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5623560" y="31181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6016752" y="307238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Оновлення ваг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C9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Adam, швидкість 0,001; повтор за епохами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365760" y="376732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відрізняє мою мережу</a:t>
            </a:r>
            <a:endParaRPr lang="en-US" sz="1200" dirty="0"/>
          </a:p>
        </p:txBody>
      </p:sp>
      <p:sp>
        <p:nvSpPr>
          <p:cNvPr id="136" name="Shape 134"/>
          <p:cNvSpPr/>
          <p:nvPr/>
        </p:nvSpPr>
        <p:spPr>
          <a:xfrm>
            <a:off x="365760" y="4041648"/>
            <a:ext cx="2011680" cy="896112"/>
          </a:xfrm>
          <a:prstGeom prst="roundRect">
            <a:avLst>
              <a:gd name="adj" fmla="val 6122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365760" y="4169664"/>
            <a:ext cx="45720" cy="6400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502920" y="4078224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Повнозв'язна MLP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3E4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CNN і не RNN: табличні ознаки без просторової структури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2499055" y="4041648"/>
            <a:ext cx="2011680" cy="896112"/>
          </a:xfrm>
          <a:prstGeom prst="roundRect">
            <a:avLst>
              <a:gd name="adj" fmla="val 6122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2499055" y="4169664"/>
            <a:ext cx="45720" cy="6400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2636215" y="4078224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11 529 параметрів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3E4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мала мережа (регресійна: 6 849), тисячі, а не мільйони</a:t>
            </a:r>
            <a:endParaRPr lang="en-US" sz="1300" dirty="0"/>
          </a:p>
        </p:txBody>
      </p:sp>
      <p:sp>
        <p:nvSpPr>
          <p:cNvPr id="142" name="Shape 140"/>
          <p:cNvSpPr/>
          <p:nvPr/>
        </p:nvSpPr>
        <p:spPr>
          <a:xfrm>
            <a:off x="4632350" y="4041648"/>
            <a:ext cx="2011680" cy="896112"/>
          </a:xfrm>
          <a:prstGeom prst="roundRect">
            <a:avLst>
              <a:gd name="adj" fmla="val 6122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4632350" y="4169664"/>
            <a:ext cx="45720" cy="64008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4769510" y="4078224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0,786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3E4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логістична регресія 0,436; випадково 0,111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6765646" y="4041648"/>
            <a:ext cx="2011680" cy="896112"/>
          </a:xfrm>
          <a:prstGeom prst="roundRect">
            <a:avLst>
              <a:gd name="adj" fmla="val 6122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765646" y="4169664"/>
            <a:ext cx="45720" cy="64008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902806" y="4078224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807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3E4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регресія 5300: тобто ≈ 6,5 раза більша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Штучні нейронні мережі: структура та принцип навчання</dc:title>
  <dc:subject>PptxGenJS Presentation</dc:subject>
  <dc:creator>Щербаков Богдан Володимирович</dc:creator>
  <cp:lastModifiedBy>Щербаков Богдан Володимирович</cp:lastModifiedBy>
  <cp:revision>1</cp:revision>
  <dcterms:created xsi:type="dcterms:W3CDTF">2026-10-02T15:11:35Z</dcterms:created>
  <dcterms:modified xsi:type="dcterms:W3CDTF">2026-10-02T15:11:35Z</dcterms:modified>
</cp:coreProperties>
</file>