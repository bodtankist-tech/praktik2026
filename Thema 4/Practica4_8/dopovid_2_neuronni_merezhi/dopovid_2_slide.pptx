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Вступ. Сьогодні про штучні нейронні мережі: з чого вони складаються і як навчаються. Якщо коротко, нейронна мережа — це математична функція з великою кількістю налаштовуваних чисел, які називають вагами. Ми не пишемо правил «якщо так, то так», а показуємо мережі приклади, і вона сама підбирає ваги так, щоб помилка була найменшою. Ідея прийшла з біології, але насправді це лінійна алгебра плюс кілька простих нелінійних функцій.
Структура. Базова одиниця — нейрон. Він бере вхідні числа, множить кожне на свою вагу, додає їх разом із зсувом (його називають bias) і пропускає результат через функцію активації. Нейрони об'єднуються в шари. Вхідний шар лише приймає ознаки, нічого не обчислює. Далі йдуть приховані шари, де відбувається основна робота, і вихідний шар, який дає відповідь. У моїй роботі шари повнозв'язні: кожен нейрон кожного шару з'єднаний з кожним нейроном наступного. Функція активації в прихованих шарах — ReLU, вона просто обнуляє від'ємні значення. Це важливо: без нелінійної активації кілька шарів зливаються в одну лінійну модель, і глибина нічого б не давала. Вихідний шар залежить від задачі. Для регресії це один нейрон без активації, бо потрібне довільне число. Для класифікації це по одному нейрону на клас із функцією softmax, яка перетворює виходи на ймовірності із сумою одиниця.
Принцип навчання. Навчання — це цикл із чотирьох кроків. Перший: прямий прохід. Дані проходять мережу зліва направо, і вона видає прогноз. Другий: функція втрат. Вона одним числом показує, наскільки прогноз відрізняється від правильної відповіді. Для регресії я брав середньоквадратичну помилку MSE, для класифікації — крос-ентропію. Третій: зворотне поширення помилки, backpropagation. За правилом ланцюга алгоритм іде від виходу до входу і для кожної ваги рахує градієнт, тобто як сильно ця вага впливає на помилку. Четвертий: оновлення ваг. Кожну вагу зсуваємо трохи в той бік, де помилка зменшується. Розмір кроку — це швидкість навчання. Я використовував оптимізатор Adam зі швидкістю 0,001, він сам підлаштовує крок для кожної ваги. Дані подаються порціями по 64 приклади, а один повний прохід по всіх даних називається епохою. Цикл повторюється багато епох.
Щоб мережа не просто запам'ятала навчальні дані, я виділив validation-вибірку і підключив ранню зупинку. Якщо помилка на validation 15 епох поспіль не покращується, навчання зупиняється, а мережа повертається до найкращих ваг. У класифікації додатково працює Dropout 0,3: під час навчання випадкові 30 відсотків нейронів вимикаються, і мережа не може покладатися на окремі нейрони. Тестову вибірку я не чіпав до самого кінця.
Що відрізняє мою мережу. У практичній роботі 4.8 я побудував дві мережі. Регресійна: 8 входів, три приховані шари на 64, 64 і 32 нейрони, один вихід, 6 849 параметрів. Класифікаційна: 20 входів, шари на 128 і 64 нейрони з Dropout між ними, вихід на 9 класів, 11 529 параметрів. Дев'ять класів — бо за моїм варіантом N дорівнює 7, а кількість класів це N плюс 2. Чим вони відрізняються від інших мереж. По-перше, це багатошаровий перцептрон прямого поширення, не згорткова мережа і не рекурентна. Згорткова мережа потрібна, коли важливі сусідні пікселі на зображенні, а в мене таблиця незалежних числових ознак, тож просторової структури немає. По-друге, вона мала: тисячі параметрів, а не мільйони, бо для цих даних глибока мережа не потрібна. По-третє, вихід налаштований під задачу: лінійний нейрон і MSE для регресії, softmax на 9 нейронів для класифікації. І по-четверте, у ній вбудований захист від перенавчання: ранні зупинки, Dropout і стандартизація, розрахована тільки по навчальній вибірці.
Результати. Я порівняв мережі з простими моделями на тестовій вибірці. У регресії нейронна мережа дала MSE 807, а лінійна регресія — 5300, тобто помилка менша приблизно в 6,5 раза. Коефіцієнт детермінації 0,979 проти 0,863. Причина проста: у даних є парабола за однією ознакою і синусоїда за іншою, а лінійна модель їх не бачить. У класифікації точність мережі 0,786, логістичної регресії 0,436, а просте вгадування на дев'яти класах дало б лише 0,111. Навчання зупинилося на 55-й епосі в регресії і на 216-й у класифікації. Є і застереження. У регресії помилка на навчальних даних продовжувала падати, а на validation стабілізувалася, тобто перенавчання починалося, і рання зупинка його стримала. І ще: дані синтетичні, згенеровані функціями make_regression і make_classification, тому висновок такий: мережа добре ловить нелінійні залежності, а не те, що вона так само добре працюватиме на реальних даних.
Висновок. Штучна нейронна мережа — це шари нейронів із вагами та нелінійними активаціями. Навчається вона циклом: прогноз, помилка, зворотне поширення, оновлення ваг. Моя мережа — невеликий повнозв'язний перцептрон, налаштований під табличні дані, і на нелінійних залежностях він суттєво перевершив лінійні моделі. Дякую за увагу.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Заголовок"/>
          <p:cNvSpPr txBox="1"/>
          <p:nvPr/>
        </p:nvSpPr>
        <p:spPr>
          <a:xfrm>
            <a:off x="365760" y="201168"/>
            <a:ext cx="8412480" cy="457200"/>
          </a:xfrm>
          <a:prstGeom prst="rect">
            <a:avLst/>
          </a:prstGeom>
          <a:noFill/>
          <a:ln/>
        </p:spPr>
        <p:txBody>
          <a:bodyPr wrap="square" lIns="0" tIns="0" rIns="0" bIns="0" rtlCol="0" anchor="ctr"/>
          <a:lstStyle/>
          <a:p>
            <a:pPr indent="0" marL="0">
              <a:buNone/>
            </a:pPr>
            <a:r>
              <a:rPr lang="en-US" sz="1900" b="1" dirty="0">
                <a:solidFill>
                  <a:srgbClr val="16324F"/>
                </a:solidFill>
                <a:latin typeface="Cambria" pitchFamily="34" charset="0"/>
                <a:ea typeface="Cambria" pitchFamily="34" charset="-122"/>
                <a:cs typeface="Cambria" pitchFamily="34" charset="-120"/>
              </a:rPr>
              <a:t>Штучні нейронні мережі: структура та принцип навчання</a:t>
            </a:r>
            <a:endParaRPr lang="en-US" sz="1900" dirty="0"/>
          </a:p>
        </p:txBody>
      </p:sp>
      <p:sp>
        <p:nvSpPr>
          <p:cNvPr id="3" name="Підзаголовок"/>
          <p:cNvSpPr txBox="1"/>
          <p:nvPr/>
        </p:nvSpPr>
        <p:spPr>
          <a:xfrm>
            <a:off x="365760" y="676656"/>
            <a:ext cx="8412480" cy="256032"/>
          </a:xfrm>
          <a:prstGeom prst="rect">
            <a:avLst/>
          </a:prstGeom>
          <a:noFill/>
          <a:ln/>
        </p:spPr>
        <p:txBody>
          <a:bodyPr wrap="square" lIns="0" tIns="0" rIns="0" bIns="0" rtlCol="0" anchor="ctr"/>
          <a:lstStyle/>
          <a:p>
            <a:pPr indent="0" marL="0">
              <a:buNone/>
            </a:pPr>
            <a:r>
              <a:rPr lang="en-US" sz="1200" dirty="0">
                <a:solidFill>
                  <a:srgbClr val="1F7A8C"/>
                </a:solidFill>
                <a:latin typeface="Calibri" pitchFamily="34" charset="0"/>
                <a:ea typeface="Calibri" pitchFamily="34" charset="-122"/>
                <a:cs typeface="Calibri" pitchFamily="34" charset="-120"/>
              </a:rPr>
              <a:t>Практична 4.8 · моя мережа: багатошаровий перцептрон (Keras)</a:t>
            </a:r>
            <a:endParaRPr lang="en-US" sz="1200" dirty="0"/>
          </a:p>
        </p:txBody>
      </p:sp>
      <p:sp>
        <p:nvSpPr>
          <p:cNvPr id="4" name="Панель схеми"/>
          <p:cNvSpPr/>
          <p:nvPr/>
        </p:nvSpPr>
        <p:spPr>
          <a:xfrm>
            <a:off x="365760" y="1051560"/>
            <a:ext cx="4892040" cy="2606040"/>
          </a:xfrm>
          <a:prstGeom prst="roundRect">
            <a:avLst>
              <a:gd name="adj" fmla="val 2807"/>
            </a:avLst>
          </a:prstGeom>
          <a:solidFill>
            <a:srgbClr val="EEF3F7"/>
          </a:solidFill>
          <a:ln w="12700">
            <a:solidFill>
              <a:srgbClr val="EEF3F7"/>
            </a:solidFill>
            <a:prstDash val="solid"/>
          </a:ln>
        </p:spPr>
      </p:sp>
      <p:sp>
        <p:nvSpPr>
          <p:cNvPr id="5" name="Text 3"/>
          <p:cNvSpPr txBox="1"/>
          <p:nvPr/>
        </p:nvSpPr>
        <p:spPr>
          <a:xfrm>
            <a:off x="502920" y="1115568"/>
            <a:ext cx="4572000" cy="256032"/>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Структура: 20 → 128 → 64 → 9</a:t>
            </a:r>
            <a:endParaRPr lang="en-US" sz="1200" dirty="0"/>
          </a:p>
        </p:txBody>
      </p:sp>
      <p:sp>
        <p:nvSpPr>
          <p:cNvPr id="6" name="Shape 4"/>
          <p:cNvSpPr/>
          <p:nvPr/>
        </p:nvSpPr>
        <p:spPr>
          <a:xfrm>
            <a:off x="868680" y="1481328"/>
            <a:ext cx="1097280" cy="91"/>
          </a:xfrm>
          <a:prstGeom prst="line">
            <a:avLst/>
          </a:prstGeom>
          <a:noFill/>
          <a:ln w="6350">
            <a:solidFill>
              <a:srgbClr val="B9C6D2"/>
            </a:solidFill>
            <a:prstDash val="solid"/>
          </a:ln>
        </p:spPr>
      </p:sp>
      <p:sp>
        <p:nvSpPr>
          <p:cNvPr id="7" name="Shape 5"/>
          <p:cNvSpPr/>
          <p:nvPr/>
        </p:nvSpPr>
        <p:spPr>
          <a:xfrm>
            <a:off x="868680" y="1481328"/>
            <a:ext cx="1097280" cy="288950"/>
          </a:xfrm>
          <a:prstGeom prst="line">
            <a:avLst/>
          </a:prstGeom>
          <a:noFill/>
          <a:ln w="6350">
            <a:solidFill>
              <a:srgbClr val="B9C6D2"/>
            </a:solidFill>
            <a:prstDash val="solid"/>
          </a:ln>
        </p:spPr>
      </p:sp>
      <p:sp>
        <p:nvSpPr>
          <p:cNvPr id="8" name="Shape 6"/>
          <p:cNvSpPr/>
          <p:nvPr/>
        </p:nvSpPr>
        <p:spPr>
          <a:xfrm>
            <a:off x="868680" y="1481328"/>
            <a:ext cx="1097280" cy="577901"/>
          </a:xfrm>
          <a:prstGeom prst="line">
            <a:avLst/>
          </a:prstGeom>
          <a:noFill/>
          <a:ln w="6350">
            <a:solidFill>
              <a:srgbClr val="B9C6D2"/>
            </a:solidFill>
            <a:prstDash val="solid"/>
          </a:ln>
        </p:spPr>
      </p:sp>
      <p:sp>
        <p:nvSpPr>
          <p:cNvPr id="9" name="Shape 7"/>
          <p:cNvSpPr/>
          <p:nvPr/>
        </p:nvSpPr>
        <p:spPr>
          <a:xfrm>
            <a:off x="868680" y="1481328"/>
            <a:ext cx="1097280" cy="866851"/>
          </a:xfrm>
          <a:prstGeom prst="line">
            <a:avLst/>
          </a:prstGeom>
          <a:noFill/>
          <a:ln w="6350">
            <a:solidFill>
              <a:srgbClr val="B9C6D2"/>
            </a:solidFill>
            <a:prstDash val="solid"/>
          </a:ln>
        </p:spPr>
      </p:sp>
      <p:sp>
        <p:nvSpPr>
          <p:cNvPr id="10" name="Shape 8"/>
          <p:cNvSpPr/>
          <p:nvPr/>
        </p:nvSpPr>
        <p:spPr>
          <a:xfrm>
            <a:off x="868680" y="1481328"/>
            <a:ext cx="1097280" cy="1155802"/>
          </a:xfrm>
          <a:prstGeom prst="line">
            <a:avLst/>
          </a:prstGeom>
          <a:noFill/>
          <a:ln w="6350">
            <a:solidFill>
              <a:srgbClr val="B9C6D2"/>
            </a:solidFill>
            <a:prstDash val="solid"/>
          </a:ln>
        </p:spPr>
      </p:sp>
      <p:sp>
        <p:nvSpPr>
          <p:cNvPr id="11" name="Shape 9"/>
          <p:cNvSpPr/>
          <p:nvPr/>
        </p:nvSpPr>
        <p:spPr>
          <a:xfrm>
            <a:off x="868680" y="1481328"/>
            <a:ext cx="1097280" cy="1444752"/>
          </a:xfrm>
          <a:prstGeom prst="line">
            <a:avLst/>
          </a:prstGeom>
          <a:noFill/>
          <a:ln w="6350">
            <a:solidFill>
              <a:srgbClr val="B9C6D2"/>
            </a:solidFill>
            <a:prstDash val="solid"/>
          </a:ln>
        </p:spPr>
      </p:sp>
      <p:sp>
        <p:nvSpPr>
          <p:cNvPr id="12" name="Shape 10"/>
          <p:cNvSpPr/>
          <p:nvPr/>
        </p:nvSpPr>
        <p:spPr>
          <a:xfrm flipV="1">
            <a:off x="868680" y="1481328"/>
            <a:ext cx="1097280" cy="361188"/>
          </a:xfrm>
          <a:prstGeom prst="line">
            <a:avLst/>
          </a:prstGeom>
          <a:noFill/>
          <a:ln w="6350">
            <a:solidFill>
              <a:srgbClr val="B9C6D2"/>
            </a:solidFill>
            <a:prstDash val="solid"/>
          </a:ln>
        </p:spPr>
      </p:sp>
      <p:sp>
        <p:nvSpPr>
          <p:cNvPr id="13" name="Shape 11"/>
          <p:cNvSpPr/>
          <p:nvPr/>
        </p:nvSpPr>
        <p:spPr>
          <a:xfrm flipV="1">
            <a:off x="868680" y="1770278"/>
            <a:ext cx="1097280" cy="72238"/>
          </a:xfrm>
          <a:prstGeom prst="line">
            <a:avLst/>
          </a:prstGeom>
          <a:noFill/>
          <a:ln w="6350">
            <a:solidFill>
              <a:srgbClr val="B9C6D2"/>
            </a:solidFill>
            <a:prstDash val="solid"/>
          </a:ln>
        </p:spPr>
      </p:sp>
      <p:sp>
        <p:nvSpPr>
          <p:cNvPr id="14" name="Shape 12"/>
          <p:cNvSpPr/>
          <p:nvPr/>
        </p:nvSpPr>
        <p:spPr>
          <a:xfrm>
            <a:off x="868680" y="1842516"/>
            <a:ext cx="1097280" cy="216713"/>
          </a:xfrm>
          <a:prstGeom prst="line">
            <a:avLst/>
          </a:prstGeom>
          <a:noFill/>
          <a:ln w="6350">
            <a:solidFill>
              <a:srgbClr val="B9C6D2"/>
            </a:solidFill>
            <a:prstDash val="solid"/>
          </a:ln>
        </p:spPr>
      </p:sp>
      <p:sp>
        <p:nvSpPr>
          <p:cNvPr id="15" name="Shape 13"/>
          <p:cNvSpPr/>
          <p:nvPr/>
        </p:nvSpPr>
        <p:spPr>
          <a:xfrm>
            <a:off x="868680" y="1842516"/>
            <a:ext cx="1097280" cy="505663"/>
          </a:xfrm>
          <a:prstGeom prst="line">
            <a:avLst/>
          </a:prstGeom>
          <a:noFill/>
          <a:ln w="6350">
            <a:solidFill>
              <a:srgbClr val="B9C6D2"/>
            </a:solidFill>
            <a:prstDash val="solid"/>
          </a:ln>
        </p:spPr>
      </p:sp>
      <p:sp>
        <p:nvSpPr>
          <p:cNvPr id="16" name="Shape 14"/>
          <p:cNvSpPr/>
          <p:nvPr/>
        </p:nvSpPr>
        <p:spPr>
          <a:xfrm>
            <a:off x="868680" y="1842516"/>
            <a:ext cx="1097280" cy="794614"/>
          </a:xfrm>
          <a:prstGeom prst="line">
            <a:avLst/>
          </a:prstGeom>
          <a:noFill/>
          <a:ln w="6350">
            <a:solidFill>
              <a:srgbClr val="B9C6D2"/>
            </a:solidFill>
            <a:prstDash val="solid"/>
          </a:ln>
        </p:spPr>
      </p:sp>
      <p:sp>
        <p:nvSpPr>
          <p:cNvPr id="17" name="Shape 15"/>
          <p:cNvSpPr/>
          <p:nvPr/>
        </p:nvSpPr>
        <p:spPr>
          <a:xfrm>
            <a:off x="868680" y="1842516"/>
            <a:ext cx="1097280" cy="1083564"/>
          </a:xfrm>
          <a:prstGeom prst="line">
            <a:avLst/>
          </a:prstGeom>
          <a:noFill/>
          <a:ln w="6350">
            <a:solidFill>
              <a:srgbClr val="B9C6D2"/>
            </a:solidFill>
            <a:prstDash val="solid"/>
          </a:ln>
        </p:spPr>
      </p:sp>
      <p:sp>
        <p:nvSpPr>
          <p:cNvPr id="18" name="Shape 16"/>
          <p:cNvSpPr/>
          <p:nvPr/>
        </p:nvSpPr>
        <p:spPr>
          <a:xfrm flipV="1">
            <a:off x="868680" y="1481328"/>
            <a:ext cx="1097280" cy="722376"/>
          </a:xfrm>
          <a:prstGeom prst="line">
            <a:avLst/>
          </a:prstGeom>
          <a:noFill/>
          <a:ln w="6350">
            <a:solidFill>
              <a:srgbClr val="B9C6D2"/>
            </a:solidFill>
            <a:prstDash val="solid"/>
          </a:ln>
        </p:spPr>
      </p:sp>
      <p:sp>
        <p:nvSpPr>
          <p:cNvPr id="19" name="Shape 17"/>
          <p:cNvSpPr/>
          <p:nvPr/>
        </p:nvSpPr>
        <p:spPr>
          <a:xfrm flipV="1">
            <a:off x="868680" y="1770278"/>
            <a:ext cx="1097280" cy="433426"/>
          </a:xfrm>
          <a:prstGeom prst="line">
            <a:avLst/>
          </a:prstGeom>
          <a:noFill/>
          <a:ln w="6350">
            <a:solidFill>
              <a:srgbClr val="B9C6D2"/>
            </a:solidFill>
            <a:prstDash val="solid"/>
          </a:ln>
        </p:spPr>
      </p:sp>
      <p:sp>
        <p:nvSpPr>
          <p:cNvPr id="20" name="Shape 18"/>
          <p:cNvSpPr/>
          <p:nvPr/>
        </p:nvSpPr>
        <p:spPr>
          <a:xfrm flipV="1">
            <a:off x="868680" y="2059229"/>
            <a:ext cx="1097280" cy="144475"/>
          </a:xfrm>
          <a:prstGeom prst="line">
            <a:avLst/>
          </a:prstGeom>
          <a:noFill/>
          <a:ln w="6350">
            <a:solidFill>
              <a:srgbClr val="B9C6D2"/>
            </a:solidFill>
            <a:prstDash val="solid"/>
          </a:ln>
        </p:spPr>
      </p:sp>
      <p:sp>
        <p:nvSpPr>
          <p:cNvPr id="21" name="Shape 19"/>
          <p:cNvSpPr/>
          <p:nvPr/>
        </p:nvSpPr>
        <p:spPr>
          <a:xfrm>
            <a:off x="868680" y="2203704"/>
            <a:ext cx="1097280" cy="144475"/>
          </a:xfrm>
          <a:prstGeom prst="line">
            <a:avLst/>
          </a:prstGeom>
          <a:noFill/>
          <a:ln w="6350">
            <a:solidFill>
              <a:srgbClr val="B9C6D2"/>
            </a:solidFill>
            <a:prstDash val="solid"/>
          </a:ln>
        </p:spPr>
      </p:sp>
      <p:sp>
        <p:nvSpPr>
          <p:cNvPr id="22" name="Shape 20"/>
          <p:cNvSpPr/>
          <p:nvPr/>
        </p:nvSpPr>
        <p:spPr>
          <a:xfrm>
            <a:off x="868680" y="2203704"/>
            <a:ext cx="1097280" cy="433426"/>
          </a:xfrm>
          <a:prstGeom prst="line">
            <a:avLst/>
          </a:prstGeom>
          <a:noFill/>
          <a:ln w="6350">
            <a:solidFill>
              <a:srgbClr val="B9C6D2"/>
            </a:solidFill>
            <a:prstDash val="solid"/>
          </a:ln>
        </p:spPr>
      </p:sp>
      <p:sp>
        <p:nvSpPr>
          <p:cNvPr id="23" name="Shape 21"/>
          <p:cNvSpPr/>
          <p:nvPr/>
        </p:nvSpPr>
        <p:spPr>
          <a:xfrm>
            <a:off x="868680" y="2203704"/>
            <a:ext cx="1097280" cy="722376"/>
          </a:xfrm>
          <a:prstGeom prst="line">
            <a:avLst/>
          </a:prstGeom>
          <a:noFill/>
          <a:ln w="6350">
            <a:solidFill>
              <a:srgbClr val="B9C6D2"/>
            </a:solidFill>
            <a:prstDash val="solid"/>
          </a:ln>
        </p:spPr>
      </p:sp>
      <p:sp>
        <p:nvSpPr>
          <p:cNvPr id="24" name="Shape 22"/>
          <p:cNvSpPr/>
          <p:nvPr/>
        </p:nvSpPr>
        <p:spPr>
          <a:xfrm flipV="1">
            <a:off x="868680" y="1481328"/>
            <a:ext cx="1097280" cy="1083564"/>
          </a:xfrm>
          <a:prstGeom prst="line">
            <a:avLst/>
          </a:prstGeom>
          <a:noFill/>
          <a:ln w="6350">
            <a:solidFill>
              <a:srgbClr val="B9C6D2"/>
            </a:solidFill>
            <a:prstDash val="solid"/>
          </a:ln>
        </p:spPr>
      </p:sp>
      <p:sp>
        <p:nvSpPr>
          <p:cNvPr id="25" name="Shape 23"/>
          <p:cNvSpPr/>
          <p:nvPr/>
        </p:nvSpPr>
        <p:spPr>
          <a:xfrm flipV="1">
            <a:off x="868680" y="1770278"/>
            <a:ext cx="1097280" cy="794614"/>
          </a:xfrm>
          <a:prstGeom prst="line">
            <a:avLst/>
          </a:prstGeom>
          <a:noFill/>
          <a:ln w="6350">
            <a:solidFill>
              <a:srgbClr val="B9C6D2"/>
            </a:solidFill>
            <a:prstDash val="solid"/>
          </a:ln>
        </p:spPr>
      </p:sp>
      <p:sp>
        <p:nvSpPr>
          <p:cNvPr id="26" name="Shape 24"/>
          <p:cNvSpPr/>
          <p:nvPr/>
        </p:nvSpPr>
        <p:spPr>
          <a:xfrm flipV="1">
            <a:off x="868680" y="2059229"/>
            <a:ext cx="1097280" cy="505663"/>
          </a:xfrm>
          <a:prstGeom prst="line">
            <a:avLst/>
          </a:prstGeom>
          <a:noFill/>
          <a:ln w="6350">
            <a:solidFill>
              <a:srgbClr val="B9C6D2"/>
            </a:solidFill>
            <a:prstDash val="solid"/>
          </a:ln>
        </p:spPr>
      </p:sp>
      <p:sp>
        <p:nvSpPr>
          <p:cNvPr id="27" name="Shape 25"/>
          <p:cNvSpPr/>
          <p:nvPr/>
        </p:nvSpPr>
        <p:spPr>
          <a:xfrm flipV="1">
            <a:off x="868680" y="2348179"/>
            <a:ext cx="1097280" cy="216713"/>
          </a:xfrm>
          <a:prstGeom prst="line">
            <a:avLst/>
          </a:prstGeom>
          <a:noFill/>
          <a:ln w="6350">
            <a:solidFill>
              <a:srgbClr val="B9C6D2"/>
            </a:solidFill>
            <a:prstDash val="solid"/>
          </a:ln>
        </p:spPr>
      </p:sp>
      <p:sp>
        <p:nvSpPr>
          <p:cNvPr id="28" name="Shape 26"/>
          <p:cNvSpPr/>
          <p:nvPr/>
        </p:nvSpPr>
        <p:spPr>
          <a:xfrm>
            <a:off x="868680" y="2564892"/>
            <a:ext cx="1097280" cy="72238"/>
          </a:xfrm>
          <a:prstGeom prst="line">
            <a:avLst/>
          </a:prstGeom>
          <a:noFill/>
          <a:ln w="6350">
            <a:solidFill>
              <a:srgbClr val="B9C6D2"/>
            </a:solidFill>
            <a:prstDash val="solid"/>
          </a:ln>
        </p:spPr>
      </p:sp>
      <p:sp>
        <p:nvSpPr>
          <p:cNvPr id="29" name="Shape 27"/>
          <p:cNvSpPr/>
          <p:nvPr/>
        </p:nvSpPr>
        <p:spPr>
          <a:xfrm>
            <a:off x="868680" y="2564892"/>
            <a:ext cx="1097280" cy="361188"/>
          </a:xfrm>
          <a:prstGeom prst="line">
            <a:avLst/>
          </a:prstGeom>
          <a:noFill/>
          <a:ln w="6350">
            <a:solidFill>
              <a:srgbClr val="B9C6D2"/>
            </a:solidFill>
            <a:prstDash val="solid"/>
          </a:ln>
        </p:spPr>
      </p:sp>
      <p:sp>
        <p:nvSpPr>
          <p:cNvPr id="30" name="Shape 28"/>
          <p:cNvSpPr/>
          <p:nvPr/>
        </p:nvSpPr>
        <p:spPr>
          <a:xfrm flipV="1">
            <a:off x="868680" y="1481328"/>
            <a:ext cx="1097280" cy="1444752"/>
          </a:xfrm>
          <a:prstGeom prst="line">
            <a:avLst/>
          </a:prstGeom>
          <a:noFill/>
          <a:ln w="6350">
            <a:solidFill>
              <a:srgbClr val="B9C6D2"/>
            </a:solidFill>
            <a:prstDash val="solid"/>
          </a:ln>
        </p:spPr>
      </p:sp>
      <p:sp>
        <p:nvSpPr>
          <p:cNvPr id="31" name="Shape 29"/>
          <p:cNvSpPr/>
          <p:nvPr/>
        </p:nvSpPr>
        <p:spPr>
          <a:xfrm flipV="1">
            <a:off x="868680" y="1770278"/>
            <a:ext cx="1097280" cy="1155802"/>
          </a:xfrm>
          <a:prstGeom prst="line">
            <a:avLst/>
          </a:prstGeom>
          <a:noFill/>
          <a:ln w="6350">
            <a:solidFill>
              <a:srgbClr val="B9C6D2"/>
            </a:solidFill>
            <a:prstDash val="solid"/>
          </a:ln>
        </p:spPr>
      </p:sp>
      <p:sp>
        <p:nvSpPr>
          <p:cNvPr id="32" name="Shape 30"/>
          <p:cNvSpPr/>
          <p:nvPr/>
        </p:nvSpPr>
        <p:spPr>
          <a:xfrm flipV="1">
            <a:off x="868680" y="2059229"/>
            <a:ext cx="1097280" cy="866851"/>
          </a:xfrm>
          <a:prstGeom prst="line">
            <a:avLst/>
          </a:prstGeom>
          <a:noFill/>
          <a:ln w="6350">
            <a:solidFill>
              <a:srgbClr val="B9C6D2"/>
            </a:solidFill>
            <a:prstDash val="solid"/>
          </a:ln>
        </p:spPr>
      </p:sp>
      <p:sp>
        <p:nvSpPr>
          <p:cNvPr id="33" name="Shape 31"/>
          <p:cNvSpPr/>
          <p:nvPr/>
        </p:nvSpPr>
        <p:spPr>
          <a:xfrm flipV="1">
            <a:off x="868680" y="2348179"/>
            <a:ext cx="1097280" cy="577901"/>
          </a:xfrm>
          <a:prstGeom prst="line">
            <a:avLst/>
          </a:prstGeom>
          <a:noFill/>
          <a:ln w="6350">
            <a:solidFill>
              <a:srgbClr val="B9C6D2"/>
            </a:solidFill>
            <a:prstDash val="solid"/>
          </a:ln>
        </p:spPr>
      </p:sp>
      <p:sp>
        <p:nvSpPr>
          <p:cNvPr id="34" name="Shape 32"/>
          <p:cNvSpPr/>
          <p:nvPr/>
        </p:nvSpPr>
        <p:spPr>
          <a:xfrm flipV="1">
            <a:off x="868680" y="2637130"/>
            <a:ext cx="1097280" cy="288950"/>
          </a:xfrm>
          <a:prstGeom prst="line">
            <a:avLst/>
          </a:prstGeom>
          <a:noFill/>
          <a:ln w="6350">
            <a:solidFill>
              <a:srgbClr val="B9C6D2"/>
            </a:solidFill>
            <a:prstDash val="solid"/>
          </a:ln>
        </p:spPr>
      </p:sp>
      <p:sp>
        <p:nvSpPr>
          <p:cNvPr id="35" name="Shape 33"/>
          <p:cNvSpPr/>
          <p:nvPr/>
        </p:nvSpPr>
        <p:spPr>
          <a:xfrm>
            <a:off x="868680" y="2926080"/>
            <a:ext cx="1097280" cy="91"/>
          </a:xfrm>
          <a:prstGeom prst="line">
            <a:avLst/>
          </a:prstGeom>
          <a:noFill/>
          <a:ln w="6350">
            <a:solidFill>
              <a:srgbClr val="B9C6D2"/>
            </a:solidFill>
            <a:prstDash val="solid"/>
          </a:ln>
        </p:spPr>
      </p:sp>
      <p:sp>
        <p:nvSpPr>
          <p:cNvPr id="36" name="Shape 34"/>
          <p:cNvSpPr/>
          <p:nvPr/>
        </p:nvSpPr>
        <p:spPr>
          <a:xfrm>
            <a:off x="1965960" y="1481328"/>
            <a:ext cx="1097280" cy="91"/>
          </a:xfrm>
          <a:prstGeom prst="line">
            <a:avLst/>
          </a:prstGeom>
          <a:noFill/>
          <a:ln w="6350">
            <a:solidFill>
              <a:srgbClr val="B9C6D2"/>
            </a:solidFill>
            <a:prstDash val="solid"/>
          </a:ln>
        </p:spPr>
      </p:sp>
      <p:sp>
        <p:nvSpPr>
          <p:cNvPr id="37" name="Shape 35"/>
          <p:cNvSpPr/>
          <p:nvPr/>
        </p:nvSpPr>
        <p:spPr>
          <a:xfrm>
            <a:off x="1965960" y="1481328"/>
            <a:ext cx="1097280" cy="361188"/>
          </a:xfrm>
          <a:prstGeom prst="line">
            <a:avLst/>
          </a:prstGeom>
          <a:noFill/>
          <a:ln w="6350">
            <a:solidFill>
              <a:srgbClr val="B9C6D2"/>
            </a:solidFill>
            <a:prstDash val="solid"/>
          </a:ln>
        </p:spPr>
      </p:sp>
      <p:sp>
        <p:nvSpPr>
          <p:cNvPr id="38" name="Shape 36"/>
          <p:cNvSpPr/>
          <p:nvPr/>
        </p:nvSpPr>
        <p:spPr>
          <a:xfrm>
            <a:off x="1965960" y="1481328"/>
            <a:ext cx="1097280" cy="722376"/>
          </a:xfrm>
          <a:prstGeom prst="line">
            <a:avLst/>
          </a:prstGeom>
          <a:noFill/>
          <a:ln w="6350">
            <a:solidFill>
              <a:srgbClr val="B9C6D2"/>
            </a:solidFill>
            <a:prstDash val="solid"/>
          </a:ln>
        </p:spPr>
      </p:sp>
      <p:sp>
        <p:nvSpPr>
          <p:cNvPr id="39" name="Shape 37"/>
          <p:cNvSpPr/>
          <p:nvPr/>
        </p:nvSpPr>
        <p:spPr>
          <a:xfrm>
            <a:off x="1965960" y="1481328"/>
            <a:ext cx="1097280" cy="1083564"/>
          </a:xfrm>
          <a:prstGeom prst="line">
            <a:avLst/>
          </a:prstGeom>
          <a:noFill/>
          <a:ln w="6350">
            <a:solidFill>
              <a:srgbClr val="B9C6D2"/>
            </a:solidFill>
            <a:prstDash val="solid"/>
          </a:ln>
        </p:spPr>
      </p:sp>
      <p:sp>
        <p:nvSpPr>
          <p:cNvPr id="40" name="Shape 38"/>
          <p:cNvSpPr/>
          <p:nvPr/>
        </p:nvSpPr>
        <p:spPr>
          <a:xfrm>
            <a:off x="1965960" y="1481328"/>
            <a:ext cx="1097280" cy="1444752"/>
          </a:xfrm>
          <a:prstGeom prst="line">
            <a:avLst/>
          </a:prstGeom>
          <a:noFill/>
          <a:ln w="6350">
            <a:solidFill>
              <a:srgbClr val="B9C6D2"/>
            </a:solidFill>
            <a:prstDash val="solid"/>
          </a:ln>
        </p:spPr>
      </p:sp>
      <p:sp>
        <p:nvSpPr>
          <p:cNvPr id="41" name="Shape 39"/>
          <p:cNvSpPr/>
          <p:nvPr/>
        </p:nvSpPr>
        <p:spPr>
          <a:xfrm flipV="1">
            <a:off x="1965960" y="1481328"/>
            <a:ext cx="1097280" cy="288950"/>
          </a:xfrm>
          <a:prstGeom prst="line">
            <a:avLst/>
          </a:prstGeom>
          <a:noFill/>
          <a:ln w="6350">
            <a:solidFill>
              <a:srgbClr val="B9C6D2"/>
            </a:solidFill>
            <a:prstDash val="solid"/>
          </a:ln>
        </p:spPr>
      </p:sp>
      <p:sp>
        <p:nvSpPr>
          <p:cNvPr id="42" name="Shape 40"/>
          <p:cNvSpPr/>
          <p:nvPr/>
        </p:nvSpPr>
        <p:spPr>
          <a:xfrm>
            <a:off x="1965960" y="1770278"/>
            <a:ext cx="1097280" cy="72238"/>
          </a:xfrm>
          <a:prstGeom prst="line">
            <a:avLst/>
          </a:prstGeom>
          <a:noFill/>
          <a:ln w="6350">
            <a:solidFill>
              <a:srgbClr val="B9C6D2"/>
            </a:solidFill>
            <a:prstDash val="solid"/>
          </a:ln>
        </p:spPr>
      </p:sp>
      <p:sp>
        <p:nvSpPr>
          <p:cNvPr id="43" name="Shape 41"/>
          <p:cNvSpPr/>
          <p:nvPr/>
        </p:nvSpPr>
        <p:spPr>
          <a:xfrm>
            <a:off x="1965960" y="1770278"/>
            <a:ext cx="1097280" cy="433426"/>
          </a:xfrm>
          <a:prstGeom prst="line">
            <a:avLst/>
          </a:prstGeom>
          <a:noFill/>
          <a:ln w="6350">
            <a:solidFill>
              <a:srgbClr val="B9C6D2"/>
            </a:solidFill>
            <a:prstDash val="solid"/>
          </a:ln>
        </p:spPr>
      </p:sp>
      <p:sp>
        <p:nvSpPr>
          <p:cNvPr id="44" name="Shape 42"/>
          <p:cNvSpPr/>
          <p:nvPr/>
        </p:nvSpPr>
        <p:spPr>
          <a:xfrm>
            <a:off x="1965960" y="1770278"/>
            <a:ext cx="1097280" cy="794614"/>
          </a:xfrm>
          <a:prstGeom prst="line">
            <a:avLst/>
          </a:prstGeom>
          <a:noFill/>
          <a:ln w="6350">
            <a:solidFill>
              <a:srgbClr val="B9C6D2"/>
            </a:solidFill>
            <a:prstDash val="solid"/>
          </a:ln>
        </p:spPr>
      </p:sp>
      <p:sp>
        <p:nvSpPr>
          <p:cNvPr id="45" name="Shape 43"/>
          <p:cNvSpPr/>
          <p:nvPr/>
        </p:nvSpPr>
        <p:spPr>
          <a:xfrm>
            <a:off x="1965960" y="1770278"/>
            <a:ext cx="1097280" cy="1155802"/>
          </a:xfrm>
          <a:prstGeom prst="line">
            <a:avLst/>
          </a:prstGeom>
          <a:noFill/>
          <a:ln w="6350">
            <a:solidFill>
              <a:srgbClr val="B9C6D2"/>
            </a:solidFill>
            <a:prstDash val="solid"/>
          </a:ln>
        </p:spPr>
      </p:sp>
      <p:sp>
        <p:nvSpPr>
          <p:cNvPr id="46" name="Shape 44"/>
          <p:cNvSpPr/>
          <p:nvPr/>
        </p:nvSpPr>
        <p:spPr>
          <a:xfrm flipV="1">
            <a:off x="1965960" y="1481328"/>
            <a:ext cx="1097280" cy="577901"/>
          </a:xfrm>
          <a:prstGeom prst="line">
            <a:avLst/>
          </a:prstGeom>
          <a:noFill/>
          <a:ln w="6350">
            <a:solidFill>
              <a:srgbClr val="B9C6D2"/>
            </a:solidFill>
            <a:prstDash val="solid"/>
          </a:ln>
        </p:spPr>
      </p:sp>
      <p:sp>
        <p:nvSpPr>
          <p:cNvPr id="47" name="Shape 45"/>
          <p:cNvSpPr/>
          <p:nvPr/>
        </p:nvSpPr>
        <p:spPr>
          <a:xfrm flipV="1">
            <a:off x="1965960" y="1842516"/>
            <a:ext cx="1097280" cy="216713"/>
          </a:xfrm>
          <a:prstGeom prst="line">
            <a:avLst/>
          </a:prstGeom>
          <a:noFill/>
          <a:ln w="6350">
            <a:solidFill>
              <a:srgbClr val="B9C6D2"/>
            </a:solidFill>
            <a:prstDash val="solid"/>
          </a:ln>
        </p:spPr>
      </p:sp>
      <p:sp>
        <p:nvSpPr>
          <p:cNvPr id="48" name="Shape 46"/>
          <p:cNvSpPr/>
          <p:nvPr/>
        </p:nvSpPr>
        <p:spPr>
          <a:xfrm>
            <a:off x="1965960" y="2059229"/>
            <a:ext cx="1097280" cy="144475"/>
          </a:xfrm>
          <a:prstGeom prst="line">
            <a:avLst/>
          </a:prstGeom>
          <a:noFill/>
          <a:ln w="6350">
            <a:solidFill>
              <a:srgbClr val="B9C6D2"/>
            </a:solidFill>
            <a:prstDash val="solid"/>
          </a:ln>
        </p:spPr>
      </p:sp>
      <p:sp>
        <p:nvSpPr>
          <p:cNvPr id="49" name="Shape 47"/>
          <p:cNvSpPr/>
          <p:nvPr/>
        </p:nvSpPr>
        <p:spPr>
          <a:xfrm>
            <a:off x="1965960" y="2059229"/>
            <a:ext cx="1097280" cy="505663"/>
          </a:xfrm>
          <a:prstGeom prst="line">
            <a:avLst/>
          </a:prstGeom>
          <a:noFill/>
          <a:ln w="6350">
            <a:solidFill>
              <a:srgbClr val="B9C6D2"/>
            </a:solidFill>
            <a:prstDash val="solid"/>
          </a:ln>
        </p:spPr>
      </p:sp>
      <p:sp>
        <p:nvSpPr>
          <p:cNvPr id="50" name="Shape 48"/>
          <p:cNvSpPr/>
          <p:nvPr/>
        </p:nvSpPr>
        <p:spPr>
          <a:xfrm>
            <a:off x="1965960" y="2059229"/>
            <a:ext cx="1097280" cy="866851"/>
          </a:xfrm>
          <a:prstGeom prst="line">
            <a:avLst/>
          </a:prstGeom>
          <a:noFill/>
          <a:ln w="6350">
            <a:solidFill>
              <a:srgbClr val="B9C6D2"/>
            </a:solidFill>
            <a:prstDash val="solid"/>
          </a:ln>
        </p:spPr>
      </p:sp>
      <p:sp>
        <p:nvSpPr>
          <p:cNvPr id="51" name="Shape 49"/>
          <p:cNvSpPr/>
          <p:nvPr/>
        </p:nvSpPr>
        <p:spPr>
          <a:xfrm flipV="1">
            <a:off x="1965960" y="1481328"/>
            <a:ext cx="1097280" cy="866851"/>
          </a:xfrm>
          <a:prstGeom prst="line">
            <a:avLst/>
          </a:prstGeom>
          <a:noFill/>
          <a:ln w="6350">
            <a:solidFill>
              <a:srgbClr val="B9C6D2"/>
            </a:solidFill>
            <a:prstDash val="solid"/>
          </a:ln>
        </p:spPr>
      </p:sp>
      <p:sp>
        <p:nvSpPr>
          <p:cNvPr id="52" name="Shape 50"/>
          <p:cNvSpPr/>
          <p:nvPr/>
        </p:nvSpPr>
        <p:spPr>
          <a:xfrm flipV="1">
            <a:off x="1965960" y="1842516"/>
            <a:ext cx="1097280" cy="505663"/>
          </a:xfrm>
          <a:prstGeom prst="line">
            <a:avLst/>
          </a:prstGeom>
          <a:noFill/>
          <a:ln w="6350">
            <a:solidFill>
              <a:srgbClr val="B9C6D2"/>
            </a:solidFill>
            <a:prstDash val="solid"/>
          </a:ln>
        </p:spPr>
      </p:sp>
      <p:sp>
        <p:nvSpPr>
          <p:cNvPr id="53" name="Shape 51"/>
          <p:cNvSpPr/>
          <p:nvPr/>
        </p:nvSpPr>
        <p:spPr>
          <a:xfrm flipV="1">
            <a:off x="1965960" y="2203704"/>
            <a:ext cx="1097280" cy="144475"/>
          </a:xfrm>
          <a:prstGeom prst="line">
            <a:avLst/>
          </a:prstGeom>
          <a:noFill/>
          <a:ln w="6350">
            <a:solidFill>
              <a:srgbClr val="B9C6D2"/>
            </a:solidFill>
            <a:prstDash val="solid"/>
          </a:ln>
        </p:spPr>
      </p:sp>
      <p:sp>
        <p:nvSpPr>
          <p:cNvPr id="54" name="Shape 52"/>
          <p:cNvSpPr/>
          <p:nvPr/>
        </p:nvSpPr>
        <p:spPr>
          <a:xfrm>
            <a:off x="1965960" y="2348179"/>
            <a:ext cx="1097280" cy="216713"/>
          </a:xfrm>
          <a:prstGeom prst="line">
            <a:avLst/>
          </a:prstGeom>
          <a:noFill/>
          <a:ln w="6350">
            <a:solidFill>
              <a:srgbClr val="B9C6D2"/>
            </a:solidFill>
            <a:prstDash val="solid"/>
          </a:ln>
        </p:spPr>
      </p:sp>
      <p:sp>
        <p:nvSpPr>
          <p:cNvPr id="55" name="Shape 53"/>
          <p:cNvSpPr/>
          <p:nvPr/>
        </p:nvSpPr>
        <p:spPr>
          <a:xfrm>
            <a:off x="1965960" y="2348179"/>
            <a:ext cx="1097280" cy="577901"/>
          </a:xfrm>
          <a:prstGeom prst="line">
            <a:avLst/>
          </a:prstGeom>
          <a:noFill/>
          <a:ln w="6350">
            <a:solidFill>
              <a:srgbClr val="B9C6D2"/>
            </a:solidFill>
            <a:prstDash val="solid"/>
          </a:ln>
        </p:spPr>
      </p:sp>
      <p:sp>
        <p:nvSpPr>
          <p:cNvPr id="56" name="Shape 54"/>
          <p:cNvSpPr/>
          <p:nvPr/>
        </p:nvSpPr>
        <p:spPr>
          <a:xfrm flipV="1">
            <a:off x="1965960" y="1481328"/>
            <a:ext cx="1097280" cy="1155802"/>
          </a:xfrm>
          <a:prstGeom prst="line">
            <a:avLst/>
          </a:prstGeom>
          <a:noFill/>
          <a:ln w="6350">
            <a:solidFill>
              <a:srgbClr val="B9C6D2"/>
            </a:solidFill>
            <a:prstDash val="solid"/>
          </a:ln>
        </p:spPr>
      </p:sp>
      <p:sp>
        <p:nvSpPr>
          <p:cNvPr id="57" name="Shape 55"/>
          <p:cNvSpPr/>
          <p:nvPr/>
        </p:nvSpPr>
        <p:spPr>
          <a:xfrm flipV="1">
            <a:off x="1965960" y="1842516"/>
            <a:ext cx="1097280" cy="794614"/>
          </a:xfrm>
          <a:prstGeom prst="line">
            <a:avLst/>
          </a:prstGeom>
          <a:noFill/>
          <a:ln w="6350">
            <a:solidFill>
              <a:srgbClr val="B9C6D2"/>
            </a:solidFill>
            <a:prstDash val="solid"/>
          </a:ln>
        </p:spPr>
      </p:sp>
      <p:sp>
        <p:nvSpPr>
          <p:cNvPr id="58" name="Shape 56"/>
          <p:cNvSpPr/>
          <p:nvPr/>
        </p:nvSpPr>
        <p:spPr>
          <a:xfrm flipV="1">
            <a:off x="1965960" y="2203704"/>
            <a:ext cx="1097280" cy="433426"/>
          </a:xfrm>
          <a:prstGeom prst="line">
            <a:avLst/>
          </a:prstGeom>
          <a:noFill/>
          <a:ln w="6350">
            <a:solidFill>
              <a:srgbClr val="B9C6D2"/>
            </a:solidFill>
            <a:prstDash val="solid"/>
          </a:ln>
        </p:spPr>
      </p:sp>
      <p:sp>
        <p:nvSpPr>
          <p:cNvPr id="59" name="Shape 57"/>
          <p:cNvSpPr/>
          <p:nvPr/>
        </p:nvSpPr>
        <p:spPr>
          <a:xfrm flipV="1">
            <a:off x="1965960" y="2564892"/>
            <a:ext cx="1097280" cy="72238"/>
          </a:xfrm>
          <a:prstGeom prst="line">
            <a:avLst/>
          </a:prstGeom>
          <a:noFill/>
          <a:ln w="6350">
            <a:solidFill>
              <a:srgbClr val="B9C6D2"/>
            </a:solidFill>
            <a:prstDash val="solid"/>
          </a:ln>
        </p:spPr>
      </p:sp>
      <p:sp>
        <p:nvSpPr>
          <p:cNvPr id="60" name="Shape 58"/>
          <p:cNvSpPr/>
          <p:nvPr/>
        </p:nvSpPr>
        <p:spPr>
          <a:xfrm>
            <a:off x="1965960" y="2637130"/>
            <a:ext cx="1097280" cy="288950"/>
          </a:xfrm>
          <a:prstGeom prst="line">
            <a:avLst/>
          </a:prstGeom>
          <a:noFill/>
          <a:ln w="6350">
            <a:solidFill>
              <a:srgbClr val="B9C6D2"/>
            </a:solidFill>
            <a:prstDash val="solid"/>
          </a:ln>
        </p:spPr>
      </p:sp>
      <p:sp>
        <p:nvSpPr>
          <p:cNvPr id="61" name="Shape 59"/>
          <p:cNvSpPr/>
          <p:nvPr/>
        </p:nvSpPr>
        <p:spPr>
          <a:xfrm flipV="1">
            <a:off x="1965960" y="1481328"/>
            <a:ext cx="1097280" cy="1444752"/>
          </a:xfrm>
          <a:prstGeom prst="line">
            <a:avLst/>
          </a:prstGeom>
          <a:noFill/>
          <a:ln w="6350">
            <a:solidFill>
              <a:srgbClr val="B9C6D2"/>
            </a:solidFill>
            <a:prstDash val="solid"/>
          </a:ln>
        </p:spPr>
      </p:sp>
      <p:sp>
        <p:nvSpPr>
          <p:cNvPr id="62" name="Shape 60"/>
          <p:cNvSpPr/>
          <p:nvPr/>
        </p:nvSpPr>
        <p:spPr>
          <a:xfrm flipV="1">
            <a:off x="1965960" y="1842516"/>
            <a:ext cx="1097280" cy="1083564"/>
          </a:xfrm>
          <a:prstGeom prst="line">
            <a:avLst/>
          </a:prstGeom>
          <a:noFill/>
          <a:ln w="6350">
            <a:solidFill>
              <a:srgbClr val="B9C6D2"/>
            </a:solidFill>
            <a:prstDash val="solid"/>
          </a:ln>
        </p:spPr>
      </p:sp>
      <p:sp>
        <p:nvSpPr>
          <p:cNvPr id="63" name="Shape 61"/>
          <p:cNvSpPr/>
          <p:nvPr/>
        </p:nvSpPr>
        <p:spPr>
          <a:xfrm flipV="1">
            <a:off x="1965960" y="2203704"/>
            <a:ext cx="1097280" cy="722376"/>
          </a:xfrm>
          <a:prstGeom prst="line">
            <a:avLst/>
          </a:prstGeom>
          <a:noFill/>
          <a:ln w="6350">
            <a:solidFill>
              <a:srgbClr val="B9C6D2"/>
            </a:solidFill>
            <a:prstDash val="solid"/>
          </a:ln>
        </p:spPr>
      </p:sp>
      <p:sp>
        <p:nvSpPr>
          <p:cNvPr id="64" name="Shape 62"/>
          <p:cNvSpPr/>
          <p:nvPr/>
        </p:nvSpPr>
        <p:spPr>
          <a:xfrm flipV="1">
            <a:off x="1965960" y="2564892"/>
            <a:ext cx="1097280" cy="361188"/>
          </a:xfrm>
          <a:prstGeom prst="line">
            <a:avLst/>
          </a:prstGeom>
          <a:noFill/>
          <a:ln w="6350">
            <a:solidFill>
              <a:srgbClr val="B9C6D2"/>
            </a:solidFill>
            <a:prstDash val="solid"/>
          </a:ln>
        </p:spPr>
      </p:sp>
      <p:sp>
        <p:nvSpPr>
          <p:cNvPr id="65" name="Shape 63"/>
          <p:cNvSpPr/>
          <p:nvPr/>
        </p:nvSpPr>
        <p:spPr>
          <a:xfrm>
            <a:off x="1965960" y="2926080"/>
            <a:ext cx="1097280" cy="91"/>
          </a:xfrm>
          <a:prstGeom prst="line">
            <a:avLst/>
          </a:prstGeom>
          <a:noFill/>
          <a:ln w="6350">
            <a:solidFill>
              <a:srgbClr val="B9C6D2"/>
            </a:solidFill>
            <a:prstDash val="solid"/>
          </a:ln>
        </p:spPr>
      </p:sp>
      <p:sp>
        <p:nvSpPr>
          <p:cNvPr id="66" name="Shape 64"/>
          <p:cNvSpPr/>
          <p:nvPr/>
        </p:nvSpPr>
        <p:spPr>
          <a:xfrm>
            <a:off x="3063240" y="1481328"/>
            <a:ext cx="1188720" cy="91"/>
          </a:xfrm>
          <a:prstGeom prst="line">
            <a:avLst/>
          </a:prstGeom>
          <a:noFill/>
          <a:ln w="6350">
            <a:solidFill>
              <a:srgbClr val="B9C6D2"/>
            </a:solidFill>
            <a:prstDash val="solid"/>
          </a:ln>
        </p:spPr>
      </p:sp>
      <p:sp>
        <p:nvSpPr>
          <p:cNvPr id="67" name="Shape 65"/>
          <p:cNvSpPr/>
          <p:nvPr/>
        </p:nvSpPr>
        <p:spPr>
          <a:xfrm>
            <a:off x="3063240" y="1481328"/>
            <a:ext cx="1188720" cy="361188"/>
          </a:xfrm>
          <a:prstGeom prst="line">
            <a:avLst/>
          </a:prstGeom>
          <a:noFill/>
          <a:ln w="6350">
            <a:solidFill>
              <a:srgbClr val="B9C6D2"/>
            </a:solidFill>
            <a:prstDash val="solid"/>
          </a:ln>
        </p:spPr>
      </p:sp>
      <p:sp>
        <p:nvSpPr>
          <p:cNvPr id="68" name="Shape 66"/>
          <p:cNvSpPr/>
          <p:nvPr/>
        </p:nvSpPr>
        <p:spPr>
          <a:xfrm>
            <a:off x="3063240" y="1481328"/>
            <a:ext cx="1188720" cy="722376"/>
          </a:xfrm>
          <a:prstGeom prst="line">
            <a:avLst/>
          </a:prstGeom>
          <a:noFill/>
          <a:ln w="6350">
            <a:solidFill>
              <a:srgbClr val="B9C6D2"/>
            </a:solidFill>
            <a:prstDash val="solid"/>
          </a:ln>
        </p:spPr>
      </p:sp>
      <p:sp>
        <p:nvSpPr>
          <p:cNvPr id="69" name="Shape 67"/>
          <p:cNvSpPr/>
          <p:nvPr/>
        </p:nvSpPr>
        <p:spPr>
          <a:xfrm>
            <a:off x="3063240" y="1481328"/>
            <a:ext cx="1188720" cy="1083564"/>
          </a:xfrm>
          <a:prstGeom prst="line">
            <a:avLst/>
          </a:prstGeom>
          <a:noFill/>
          <a:ln w="6350">
            <a:solidFill>
              <a:srgbClr val="B9C6D2"/>
            </a:solidFill>
            <a:prstDash val="solid"/>
          </a:ln>
        </p:spPr>
      </p:sp>
      <p:sp>
        <p:nvSpPr>
          <p:cNvPr id="70" name="Shape 68"/>
          <p:cNvSpPr/>
          <p:nvPr/>
        </p:nvSpPr>
        <p:spPr>
          <a:xfrm>
            <a:off x="3063240" y="1481328"/>
            <a:ext cx="1188720" cy="1444752"/>
          </a:xfrm>
          <a:prstGeom prst="line">
            <a:avLst/>
          </a:prstGeom>
          <a:noFill/>
          <a:ln w="6350">
            <a:solidFill>
              <a:srgbClr val="B9C6D2"/>
            </a:solidFill>
            <a:prstDash val="solid"/>
          </a:ln>
        </p:spPr>
      </p:sp>
      <p:sp>
        <p:nvSpPr>
          <p:cNvPr id="71" name="Shape 69"/>
          <p:cNvSpPr/>
          <p:nvPr/>
        </p:nvSpPr>
        <p:spPr>
          <a:xfrm flipV="1">
            <a:off x="3063240" y="1481328"/>
            <a:ext cx="1188720" cy="361188"/>
          </a:xfrm>
          <a:prstGeom prst="line">
            <a:avLst/>
          </a:prstGeom>
          <a:noFill/>
          <a:ln w="6350">
            <a:solidFill>
              <a:srgbClr val="B9C6D2"/>
            </a:solidFill>
            <a:prstDash val="solid"/>
          </a:ln>
        </p:spPr>
      </p:sp>
      <p:sp>
        <p:nvSpPr>
          <p:cNvPr id="72" name="Shape 70"/>
          <p:cNvSpPr/>
          <p:nvPr/>
        </p:nvSpPr>
        <p:spPr>
          <a:xfrm>
            <a:off x="3063240" y="1842516"/>
            <a:ext cx="1188720" cy="91"/>
          </a:xfrm>
          <a:prstGeom prst="line">
            <a:avLst/>
          </a:prstGeom>
          <a:noFill/>
          <a:ln w="6350">
            <a:solidFill>
              <a:srgbClr val="B9C6D2"/>
            </a:solidFill>
            <a:prstDash val="solid"/>
          </a:ln>
        </p:spPr>
      </p:sp>
      <p:sp>
        <p:nvSpPr>
          <p:cNvPr id="73" name="Shape 71"/>
          <p:cNvSpPr/>
          <p:nvPr/>
        </p:nvSpPr>
        <p:spPr>
          <a:xfrm>
            <a:off x="3063240" y="1842516"/>
            <a:ext cx="1188720" cy="361188"/>
          </a:xfrm>
          <a:prstGeom prst="line">
            <a:avLst/>
          </a:prstGeom>
          <a:noFill/>
          <a:ln w="6350">
            <a:solidFill>
              <a:srgbClr val="B9C6D2"/>
            </a:solidFill>
            <a:prstDash val="solid"/>
          </a:ln>
        </p:spPr>
      </p:sp>
      <p:sp>
        <p:nvSpPr>
          <p:cNvPr id="74" name="Shape 72"/>
          <p:cNvSpPr/>
          <p:nvPr/>
        </p:nvSpPr>
        <p:spPr>
          <a:xfrm>
            <a:off x="3063240" y="1842516"/>
            <a:ext cx="1188720" cy="722376"/>
          </a:xfrm>
          <a:prstGeom prst="line">
            <a:avLst/>
          </a:prstGeom>
          <a:noFill/>
          <a:ln w="6350">
            <a:solidFill>
              <a:srgbClr val="B9C6D2"/>
            </a:solidFill>
            <a:prstDash val="solid"/>
          </a:ln>
        </p:spPr>
      </p:sp>
      <p:sp>
        <p:nvSpPr>
          <p:cNvPr id="75" name="Shape 73"/>
          <p:cNvSpPr/>
          <p:nvPr/>
        </p:nvSpPr>
        <p:spPr>
          <a:xfrm>
            <a:off x="3063240" y="1842516"/>
            <a:ext cx="1188720" cy="1083564"/>
          </a:xfrm>
          <a:prstGeom prst="line">
            <a:avLst/>
          </a:prstGeom>
          <a:noFill/>
          <a:ln w="6350">
            <a:solidFill>
              <a:srgbClr val="B9C6D2"/>
            </a:solidFill>
            <a:prstDash val="solid"/>
          </a:ln>
        </p:spPr>
      </p:sp>
      <p:sp>
        <p:nvSpPr>
          <p:cNvPr id="76" name="Shape 74"/>
          <p:cNvSpPr/>
          <p:nvPr/>
        </p:nvSpPr>
        <p:spPr>
          <a:xfrm flipV="1">
            <a:off x="3063240" y="1481328"/>
            <a:ext cx="1188720" cy="722376"/>
          </a:xfrm>
          <a:prstGeom prst="line">
            <a:avLst/>
          </a:prstGeom>
          <a:noFill/>
          <a:ln w="6350">
            <a:solidFill>
              <a:srgbClr val="B9C6D2"/>
            </a:solidFill>
            <a:prstDash val="solid"/>
          </a:ln>
        </p:spPr>
      </p:sp>
      <p:sp>
        <p:nvSpPr>
          <p:cNvPr id="77" name="Shape 75"/>
          <p:cNvSpPr/>
          <p:nvPr/>
        </p:nvSpPr>
        <p:spPr>
          <a:xfrm flipV="1">
            <a:off x="3063240" y="1842516"/>
            <a:ext cx="1188720" cy="361188"/>
          </a:xfrm>
          <a:prstGeom prst="line">
            <a:avLst/>
          </a:prstGeom>
          <a:noFill/>
          <a:ln w="6350">
            <a:solidFill>
              <a:srgbClr val="B9C6D2"/>
            </a:solidFill>
            <a:prstDash val="solid"/>
          </a:ln>
        </p:spPr>
      </p:sp>
      <p:sp>
        <p:nvSpPr>
          <p:cNvPr id="78" name="Shape 76"/>
          <p:cNvSpPr/>
          <p:nvPr/>
        </p:nvSpPr>
        <p:spPr>
          <a:xfrm>
            <a:off x="3063240" y="2203704"/>
            <a:ext cx="1188720" cy="91"/>
          </a:xfrm>
          <a:prstGeom prst="line">
            <a:avLst/>
          </a:prstGeom>
          <a:noFill/>
          <a:ln w="6350">
            <a:solidFill>
              <a:srgbClr val="B9C6D2"/>
            </a:solidFill>
            <a:prstDash val="solid"/>
          </a:ln>
        </p:spPr>
      </p:sp>
      <p:sp>
        <p:nvSpPr>
          <p:cNvPr id="79" name="Shape 77"/>
          <p:cNvSpPr/>
          <p:nvPr/>
        </p:nvSpPr>
        <p:spPr>
          <a:xfrm>
            <a:off x="3063240" y="2203704"/>
            <a:ext cx="1188720" cy="361188"/>
          </a:xfrm>
          <a:prstGeom prst="line">
            <a:avLst/>
          </a:prstGeom>
          <a:noFill/>
          <a:ln w="6350">
            <a:solidFill>
              <a:srgbClr val="B9C6D2"/>
            </a:solidFill>
            <a:prstDash val="solid"/>
          </a:ln>
        </p:spPr>
      </p:sp>
      <p:sp>
        <p:nvSpPr>
          <p:cNvPr id="80" name="Shape 78"/>
          <p:cNvSpPr/>
          <p:nvPr/>
        </p:nvSpPr>
        <p:spPr>
          <a:xfrm>
            <a:off x="3063240" y="2203704"/>
            <a:ext cx="1188720" cy="722376"/>
          </a:xfrm>
          <a:prstGeom prst="line">
            <a:avLst/>
          </a:prstGeom>
          <a:noFill/>
          <a:ln w="6350">
            <a:solidFill>
              <a:srgbClr val="B9C6D2"/>
            </a:solidFill>
            <a:prstDash val="solid"/>
          </a:ln>
        </p:spPr>
      </p:sp>
      <p:sp>
        <p:nvSpPr>
          <p:cNvPr id="81" name="Shape 79"/>
          <p:cNvSpPr/>
          <p:nvPr/>
        </p:nvSpPr>
        <p:spPr>
          <a:xfrm flipV="1">
            <a:off x="3063240" y="1481328"/>
            <a:ext cx="1188720" cy="1083564"/>
          </a:xfrm>
          <a:prstGeom prst="line">
            <a:avLst/>
          </a:prstGeom>
          <a:noFill/>
          <a:ln w="6350">
            <a:solidFill>
              <a:srgbClr val="B9C6D2"/>
            </a:solidFill>
            <a:prstDash val="solid"/>
          </a:ln>
        </p:spPr>
      </p:sp>
      <p:sp>
        <p:nvSpPr>
          <p:cNvPr id="82" name="Shape 80"/>
          <p:cNvSpPr/>
          <p:nvPr/>
        </p:nvSpPr>
        <p:spPr>
          <a:xfrm flipV="1">
            <a:off x="3063240" y="1842516"/>
            <a:ext cx="1188720" cy="722376"/>
          </a:xfrm>
          <a:prstGeom prst="line">
            <a:avLst/>
          </a:prstGeom>
          <a:noFill/>
          <a:ln w="6350">
            <a:solidFill>
              <a:srgbClr val="B9C6D2"/>
            </a:solidFill>
            <a:prstDash val="solid"/>
          </a:ln>
        </p:spPr>
      </p:sp>
      <p:sp>
        <p:nvSpPr>
          <p:cNvPr id="83" name="Shape 81"/>
          <p:cNvSpPr/>
          <p:nvPr/>
        </p:nvSpPr>
        <p:spPr>
          <a:xfrm flipV="1">
            <a:off x="3063240" y="2203704"/>
            <a:ext cx="1188720" cy="361188"/>
          </a:xfrm>
          <a:prstGeom prst="line">
            <a:avLst/>
          </a:prstGeom>
          <a:noFill/>
          <a:ln w="6350">
            <a:solidFill>
              <a:srgbClr val="B9C6D2"/>
            </a:solidFill>
            <a:prstDash val="solid"/>
          </a:ln>
        </p:spPr>
      </p:sp>
      <p:sp>
        <p:nvSpPr>
          <p:cNvPr id="84" name="Shape 82"/>
          <p:cNvSpPr/>
          <p:nvPr/>
        </p:nvSpPr>
        <p:spPr>
          <a:xfrm>
            <a:off x="3063240" y="2564892"/>
            <a:ext cx="1188720" cy="91"/>
          </a:xfrm>
          <a:prstGeom prst="line">
            <a:avLst/>
          </a:prstGeom>
          <a:noFill/>
          <a:ln w="6350">
            <a:solidFill>
              <a:srgbClr val="B9C6D2"/>
            </a:solidFill>
            <a:prstDash val="solid"/>
          </a:ln>
        </p:spPr>
      </p:sp>
      <p:sp>
        <p:nvSpPr>
          <p:cNvPr id="85" name="Shape 83"/>
          <p:cNvSpPr/>
          <p:nvPr/>
        </p:nvSpPr>
        <p:spPr>
          <a:xfrm>
            <a:off x="3063240" y="2564892"/>
            <a:ext cx="1188720" cy="361188"/>
          </a:xfrm>
          <a:prstGeom prst="line">
            <a:avLst/>
          </a:prstGeom>
          <a:noFill/>
          <a:ln w="6350">
            <a:solidFill>
              <a:srgbClr val="B9C6D2"/>
            </a:solidFill>
            <a:prstDash val="solid"/>
          </a:ln>
        </p:spPr>
      </p:sp>
      <p:sp>
        <p:nvSpPr>
          <p:cNvPr id="86" name="Shape 84"/>
          <p:cNvSpPr/>
          <p:nvPr/>
        </p:nvSpPr>
        <p:spPr>
          <a:xfrm flipV="1">
            <a:off x="3063240" y="1481328"/>
            <a:ext cx="1188720" cy="1444752"/>
          </a:xfrm>
          <a:prstGeom prst="line">
            <a:avLst/>
          </a:prstGeom>
          <a:noFill/>
          <a:ln w="6350">
            <a:solidFill>
              <a:srgbClr val="B9C6D2"/>
            </a:solidFill>
            <a:prstDash val="solid"/>
          </a:ln>
        </p:spPr>
      </p:sp>
      <p:sp>
        <p:nvSpPr>
          <p:cNvPr id="87" name="Shape 85"/>
          <p:cNvSpPr/>
          <p:nvPr/>
        </p:nvSpPr>
        <p:spPr>
          <a:xfrm flipV="1">
            <a:off x="3063240" y="1842516"/>
            <a:ext cx="1188720" cy="1083564"/>
          </a:xfrm>
          <a:prstGeom prst="line">
            <a:avLst/>
          </a:prstGeom>
          <a:noFill/>
          <a:ln w="6350">
            <a:solidFill>
              <a:srgbClr val="B9C6D2"/>
            </a:solidFill>
            <a:prstDash val="solid"/>
          </a:ln>
        </p:spPr>
      </p:sp>
      <p:sp>
        <p:nvSpPr>
          <p:cNvPr id="88" name="Shape 86"/>
          <p:cNvSpPr/>
          <p:nvPr/>
        </p:nvSpPr>
        <p:spPr>
          <a:xfrm flipV="1">
            <a:off x="3063240" y="2203704"/>
            <a:ext cx="1188720" cy="722376"/>
          </a:xfrm>
          <a:prstGeom prst="line">
            <a:avLst/>
          </a:prstGeom>
          <a:noFill/>
          <a:ln w="6350">
            <a:solidFill>
              <a:srgbClr val="B9C6D2"/>
            </a:solidFill>
            <a:prstDash val="solid"/>
          </a:ln>
        </p:spPr>
      </p:sp>
      <p:sp>
        <p:nvSpPr>
          <p:cNvPr id="89" name="Shape 87"/>
          <p:cNvSpPr/>
          <p:nvPr/>
        </p:nvSpPr>
        <p:spPr>
          <a:xfrm flipV="1">
            <a:off x="3063240" y="2564892"/>
            <a:ext cx="1188720" cy="361188"/>
          </a:xfrm>
          <a:prstGeom prst="line">
            <a:avLst/>
          </a:prstGeom>
          <a:noFill/>
          <a:ln w="6350">
            <a:solidFill>
              <a:srgbClr val="B9C6D2"/>
            </a:solidFill>
            <a:prstDash val="solid"/>
          </a:ln>
        </p:spPr>
      </p:sp>
      <p:sp>
        <p:nvSpPr>
          <p:cNvPr id="90" name="Shape 88"/>
          <p:cNvSpPr/>
          <p:nvPr/>
        </p:nvSpPr>
        <p:spPr>
          <a:xfrm>
            <a:off x="3063240" y="2926080"/>
            <a:ext cx="1188720" cy="91"/>
          </a:xfrm>
          <a:prstGeom prst="line">
            <a:avLst/>
          </a:prstGeom>
          <a:noFill/>
          <a:ln w="6350">
            <a:solidFill>
              <a:srgbClr val="B9C6D2"/>
            </a:solidFill>
            <a:prstDash val="solid"/>
          </a:ln>
        </p:spPr>
      </p:sp>
      <p:sp>
        <p:nvSpPr>
          <p:cNvPr id="91" name="Shape 89"/>
          <p:cNvSpPr/>
          <p:nvPr/>
        </p:nvSpPr>
        <p:spPr>
          <a:xfrm>
            <a:off x="777240" y="1389888"/>
            <a:ext cx="182880" cy="182880"/>
          </a:xfrm>
          <a:prstGeom prst="ellipse">
            <a:avLst/>
          </a:prstGeom>
          <a:solidFill>
            <a:srgbClr val="8A99A8"/>
          </a:solidFill>
          <a:ln w="12700">
            <a:solidFill>
              <a:srgbClr val="FFFFFF"/>
            </a:solidFill>
            <a:prstDash val="solid"/>
          </a:ln>
        </p:spPr>
      </p:sp>
      <p:sp>
        <p:nvSpPr>
          <p:cNvPr id="92" name="Shape 90"/>
          <p:cNvSpPr/>
          <p:nvPr/>
        </p:nvSpPr>
        <p:spPr>
          <a:xfrm>
            <a:off x="777240" y="1751076"/>
            <a:ext cx="182880" cy="182880"/>
          </a:xfrm>
          <a:prstGeom prst="ellipse">
            <a:avLst/>
          </a:prstGeom>
          <a:solidFill>
            <a:srgbClr val="8A99A8"/>
          </a:solidFill>
          <a:ln w="12700">
            <a:solidFill>
              <a:srgbClr val="FFFFFF"/>
            </a:solidFill>
            <a:prstDash val="solid"/>
          </a:ln>
        </p:spPr>
      </p:sp>
      <p:sp>
        <p:nvSpPr>
          <p:cNvPr id="93" name="Shape 91"/>
          <p:cNvSpPr/>
          <p:nvPr/>
        </p:nvSpPr>
        <p:spPr>
          <a:xfrm>
            <a:off x="777240" y="2112264"/>
            <a:ext cx="182880" cy="182880"/>
          </a:xfrm>
          <a:prstGeom prst="ellipse">
            <a:avLst/>
          </a:prstGeom>
          <a:solidFill>
            <a:srgbClr val="8A99A8"/>
          </a:solidFill>
          <a:ln w="12700">
            <a:solidFill>
              <a:srgbClr val="FFFFFF"/>
            </a:solidFill>
            <a:prstDash val="solid"/>
          </a:ln>
        </p:spPr>
      </p:sp>
      <p:sp>
        <p:nvSpPr>
          <p:cNvPr id="94" name="Shape 92"/>
          <p:cNvSpPr/>
          <p:nvPr/>
        </p:nvSpPr>
        <p:spPr>
          <a:xfrm>
            <a:off x="777240" y="2473452"/>
            <a:ext cx="182880" cy="182880"/>
          </a:xfrm>
          <a:prstGeom prst="ellipse">
            <a:avLst/>
          </a:prstGeom>
          <a:solidFill>
            <a:srgbClr val="8A99A8"/>
          </a:solidFill>
          <a:ln w="12700">
            <a:solidFill>
              <a:srgbClr val="FFFFFF"/>
            </a:solidFill>
            <a:prstDash val="solid"/>
          </a:ln>
        </p:spPr>
      </p:sp>
      <p:sp>
        <p:nvSpPr>
          <p:cNvPr id="95" name="Shape 93"/>
          <p:cNvSpPr/>
          <p:nvPr/>
        </p:nvSpPr>
        <p:spPr>
          <a:xfrm>
            <a:off x="777240" y="2834640"/>
            <a:ext cx="182880" cy="182880"/>
          </a:xfrm>
          <a:prstGeom prst="ellipse">
            <a:avLst/>
          </a:prstGeom>
          <a:solidFill>
            <a:srgbClr val="8A99A8"/>
          </a:solidFill>
          <a:ln w="12700">
            <a:solidFill>
              <a:srgbClr val="FFFFFF"/>
            </a:solidFill>
            <a:prstDash val="solid"/>
          </a:ln>
        </p:spPr>
      </p:sp>
      <p:sp>
        <p:nvSpPr>
          <p:cNvPr id="96" name="Text 94"/>
          <p:cNvSpPr txBox="1"/>
          <p:nvPr/>
        </p:nvSpPr>
        <p:spPr>
          <a:xfrm>
            <a:off x="274320" y="3035808"/>
            <a:ext cx="1188720" cy="201168"/>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Вхід</a:t>
            </a:r>
            <a:endParaRPr lang="en-US" sz="1100" dirty="0"/>
          </a:p>
        </p:txBody>
      </p:sp>
      <p:sp>
        <p:nvSpPr>
          <p:cNvPr id="97" name="Text 95"/>
          <p:cNvSpPr txBox="1"/>
          <p:nvPr/>
        </p:nvSpPr>
        <p:spPr>
          <a:xfrm>
            <a:off x="228600" y="3227832"/>
            <a:ext cx="1280160" cy="201168"/>
          </a:xfrm>
          <a:prstGeom prst="rect">
            <a:avLst/>
          </a:prstGeom>
          <a:noFill/>
          <a:ln/>
        </p:spPr>
        <p:txBody>
          <a:bodyPr wrap="square" lIns="0" tIns="0" rIns="0" bIns="0" rtlCol="0" anchor="ctr"/>
          <a:lstStyle/>
          <a:p>
            <a:pPr algn="ctr" indent="0" marL="0">
              <a:buNone/>
            </a:pPr>
            <a:r>
              <a:rPr lang="en-US" sz="1000" dirty="0">
                <a:solidFill>
                  <a:srgbClr val="4A5B6B"/>
                </a:solidFill>
                <a:latin typeface="Calibri" pitchFamily="34" charset="0"/>
                <a:ea typeface="Calibri" pitchFamily="34" charset="-122"/>
                <a:cs typeface="Calibri" pitchFamily="34" charset="-120"/>
              </a:rPr>
              <a:t>20 ознак</a:t>
            </a:r>
            <a:endParaRPr lang="en-US" sz="1000" dirty="0"/>
          </a:p>
        </p:txBody>
      </p:sp>
      <p:sp>
        <p:nvSpPr>
          <p:cNvPr id="98" name="Shape 96"/>
          <p:cNvSpPr/>
          <p:nvPr/>
        </p:nvSpPr>
        <p:spPr>
          <a:xfrm>
            <a:off x="1874520" y="1389888"/>
            <a:ext cx="182880" cy="182880"/>
          </a:xfrm>
          <a:prstGeom prst="ellipse">
            <a:avLst/>
          </a:prstGeom>
          <a:solidFill>
            <a:srgbClr val="1F7A8C"/>
          </a:solidFill>
          <a:ln w="12700">
            <a:solidFill>
              <a:srgbClr val="FFFFFF"/>
            </a:solidFill>
            <a:prstDash val="solid"/>
          </a:ln>
        </p:spPr>
      </p:sp>
      <p:sp>
        <p:nvSpPr>
          <p:cNvPr id="99" name="Shape 97"/>
          <p:cNvSpPr/>
          <p:nvPr/>
        </p:nvSpPr>
        <p:spPr>
          <a:xfrm>
            <a:off x="1874520" y="1678838"/>
            <a:ext cx="182880" cy="182880"/>
          </a:xfrm>
          <a:prstGeom prst="ellipse">
            <a:avLst/>
          </a:prstGeom>
          <a:solidFill>
            <a:srgbClr val="1F7A8C"/>
          </a:solidFill>
          <a:ln w="12700">
            <a:solidFill>
              <a:srgbClr val="FFFFFF"/>
            </a:solidFill>
            <a:prstDash val="solid"/>
          </a:ln>
        </p:spPr>
      </p:sp>
      <p:sp>
        <p:nvSpPr>
          <p:cNvPr id="100" name="Shape 98"/>
          <p:cNvSpPr/>
          <p:nvPr/>
        </p:nvSpPr>
        <p:spPr>
          <a:xfrm>
            <a:off x="1874520" y="1967789"/>
            <a:ext cx="182880" cy="182880"/>
          </a:xfrm>
          <a:prstGeom prst="ellipse">
            <a:avLst/>
          </a:prstGeom>
          <a:solidFill>
            <a:srgbClr val="1F7A8C"/>
          </a:solidFill>
          <a:ln w="12700">
            <a:solidFill>
              <a:srgbClr val="FFFFFF"/>
            </a:solidFill>
            <a:prstDash val="solid"/>
          </a:ln>
        </p:spPr>
      </p:sp>
      <p:sp>
        <p:nvSpPr>
          <p:cNvPr id="101" name="Shape 99"/>
          <p:cNvSpPr/>
          <p:nvPr/>
        </p:nvSpPr>
        <p:spPr>
          <a:xfrm>
            <a:off x="1874520" y="2256739"/>
            <a:ext cx="182880" cy="182880"/>
          </a:xfrm>
          <a:prstGeom prst="ellipse">
            <a:avLst/>
          </a:prstGeom>
          <a:solidFill>
            <a:srgbClr val="1F7A8C"/>
          </a:solidFill>
          <a:ln w="12700">
            <a:solidFill>
              <a:srgbClr val="FFFFFF"/>
            </a:solidFill>
            <a:prstDash val="solid"/>
          </a:ln>
        </p:spPr>
      </p:sp>
      <p:sp>
        <p:nvSpPr>
          <p:cNvPr id="102" name="Shape 100"/>
          <p:cNvSpPr/>
          <p:nvPr/>
        </p:nvSpPr>
        <p:spPr>
          <a:xfrm>
            <a:off x="1874520" y="2545690"/>
            <a:ext cx="182880" cy="182880"/>
          </a:xfrm>
          <a:prstGeom prst="ellipse">
            <a:avLst/>
          </a:prstGeom>
          <a:solidFill>
            <a:srgbClr val="1F7A8C"/>
          </a:solidFill>
          <a:ln w="12700">
            <a:solidFill>
              <a:srgbClr val="FFFFFF"/>
            </a:solidFill>
            <a:prstDash val="solid"/>
          </a:ln>
        </p:spPr>
      </p:sp>
      <p:sp>
        <p:nvSpPr>
          <p:cNvPr id="103" name="Shape 101"/>
          <p:cNvSpPr/>
          <p:nvPr/>
        </p:nvSpPr>
        <p:spPr>
          <a:xfrm>
            <a:off x="1874520" y="2834640"/>
            <a:ext cx="182880" cy="182880"/>
          </a:xfrm>
          <a:prstGeom prst="ellipse">
            <a:avLst/>
          </a:prstGeom>
          <a:solidFill>
            <a:srgbClr val="1F7A8C"/>
          </a:solidFill>
          <a:ln w="12700">
            <a:solidFill>
              <a:srgbClr val="FFFFFF"/>
            </a:solidFill>
            <a:prstDash val="solid"/>
          </a:ln>
        </p:spPr>
      </p:sp>
      <p:sp>
        <p:nvSpPr>
          <p:cNvPr id="104" name="Text 102"/>
          <p:cNvSpPr txBox="1"/>
          <p:nvPr/>
        </p:nvSpPr>
        <p:spPr>
          <a:xfrm>
            <a:off x="1371600" y="3035808"/>
            <a:ext cx="1188720" cy="201168"/>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Dense 128</a:t>
            </a:r>
            <a:endParaRPr lang="en-US" sz="1100" dirty="0"/>
          </a:p>
        </p:txBody>
      </p:sp>
      <p:sp>
        <p:nvSpPr>
          <p:cNvPr id="105" name="Text 103"/>
          <p:cNvSpPr txBox="1"/>
          <p:nvPr/>
        </p:nvSpPr>
        <p:spPr>
          <a:xfrm>
            <a:off x="1325880" y="3227832"/>
            <a:ext cx="1280160" cy="201168"/>
          </a:xfrm>
          <a:prstGeom prst="rect">
            <a:avLst/>
          </a:prstGeom>
          <a:noFill/>
          <a:ln/>
        </p:spPr>
        <p:txBody>
          <a:bodyPr wrap="square" lIns="0" tIns="0" rIns="0" bIns="0" rtlCol="0" anchor="ctr"/>
          <a:lstStyle/>
          <a:p>
            <a:pPr algn="ctr" indent="0" marL="0">
              <a:buNone/>
            </a:pPr>
            <a:r>
              <a:rPr lang="en-US" sz="1000" dirty="0">
                <a:solidFill>
                  <a:srgbClr val="4A5B6B"/>
                </a:solidFill>
                <a:latin typeface="Calibri" pitchFamily="34" charset="0"/>
                <a:ea typeface="Calibri" pitchFamily="34" charset="-122"/>
                <a:cs typeface="Calibri" pitchFamily="34" charset="-120"/>
              </a:rPr>
              <a:t>ReLU</a:t>
            </a:r>
            <a:endParaRPr lang="en-US" sz="1000" dirty="0"/>
          </a:p>
        </p:txBody>
      </p:sp>
      <p:sp>
        <p:nvSpPr>
          <p:cNvPr id="106" name="Shape 104"/>
          <p:cNvSpPr/>
          <p:nvPr/>
        </p:nvSpPr>
        <p:spPr>
          <a:xfrm>
            <a:off x="2971800" y="1389888"/>
            <a:ext cx="182880" cy="182880"/>
          </a:xfrm>
          <a:prstGeom prst="ellipse">
            <a:avLst/>
          </a:prstGeom>
          <a:solidFill>
            <a:srgbClr val="1F7A8C"/>
          </a:solidFill>
          <a:ln w="12700">
            <a:solidFill>
              <a:srgbClr val="FFFFFF"/>
            </a:solidFill>
            <a:prstDash val="solid"/>
          </a:ln>
        </p:spPr>
      </p:sp>
      <p:sp>
        <p:nvSpPr>
          <p:cNvPr id="107" name="Shape 105"/>
          <p:cNvSpPr/>
          <p:nvPr/>
        </p:nvSpPr>
        <p:spPr>
          <a:xfrm>
            <a:off x="2971800" y="1751076"/>
            <a:ext cx="182880" cy="182880"/>
          </a:xfrm>
          <a:prstGeom prst="ellipse">
            <a:avLst/>
          </a:prstGeom>
          <a:solidFill>
            <a:srgbClr val="1F7A8C"/>
          </a:solidFill>
          <a:ln w="12700">
            <a:solidFill>
              <a:srgbClr val="FFFFFF"/>
            </a:solidFill>
            <a:prstDash val="solid"/>
          </a:ln>
        </p:spPr>
      </p:sp>
      <p:sp>
        <p:nvSpPr>
          <p:cNvPr id="108" name="Shape 106"/>
          <p:cNvSpPr/>
          <p:nvPr/>
        </p:nvSpPr>
        <p:spPr>
          <a:xfrm>
            <a:off x="2971800" y="2112264"/>
            <a:ext cx="182880" cy="182880"/>
          </a:xfrm>
          <a:prstGeom prst="ellipse">
            <a:avLst/>
          </a:prstGeom>
          <a:solidFill>
            <a:srgbClr val="1F7A8C"/>
          </a:solidFill>
          <a:ln w="12700">
            <a:solidFill>
              <a:srgbClr val="FFFFFF"/>
            </a:solidFill>
            <a:prstDash val="solid"/>
          </a:ln>
        </p:spPr>
      </p:sp>
      <p:sp>
        <p:nvSpPr>
          <p:cNvPr id="109" name="Shape 107"/>
          <p:cNvSpPr/>
          <p:nvPr/>
        </p:nvSpPr>
        <p:spPr>
          <a:xfrm>
            <a:off x="2971800" y="2473452"/>
            <a:ext cx="182880" cy="182880"/>
          </a:xfrm>
          <a:prstGeom prst="ellipse">
            <a:avLst/>
          </a:prstGeom>
          <a:solidFill>
            <a:srgbClr val="1F7A8C"/>
          </a:solidFill>
          <a:ln w="12700">
            <a:solidFill>
              <a:srgbClr val="FFFFFF"/>
            </a:solidFill>
            <a:prstDash val="solid"/>
          </a:ln>
        </p:spPr>
      </p:sp>
      <p:sp>
        <p:nvSpPr>
          <p:cNvPr id="110" name="Shape 108"/>
          <p:cNvSpPr/>
          <p:nvPr/>
        </p:nvSpPr>
        <p:spPr>
          <a:xfrm>
            <a:off x="2971800" y="2834640"/>
            <a:ext cx="182880" cy="182880"/>
          </a:xfrm>
          <a:prstGeom prst="ellipse">
            <a:avLst/>
          </a:prstGeom>
          <a:solidFill>
            <a:srgbClr val="1F7A8C"/>
          </a:solidFill>
          <a:ln w="12700">
            <a:solidFill>
              <a:srgbClr val="FFFFFF"/>
            </a:solidFill>
            <a:prstDash val="solid"/>
          </a:ln>
        </p:spPr>
      </p:sp>
      <p:sp>
        <p:nvSpPr>
          <p:cNvPr id="111" name="Text 109"/>
          <p:cNvSpPr txBox="1"/>
          <p:nvPr/>
        </p:nvSpPr>
        <p:spPr>
          <a:xfrm>
            <a:off x="2468880" y="3035808"/>
            <a:ext cx="1188720" cy="201168"/>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Dense 64</a:t>
            </a:r>
            <a:endParaRPr lang="en-US" sz="1100" dirty="0"/>
          </a:p>
        </p:txBody>
      </p:sp>
      <p:sp>
        <p:nvSpPr>
          <p:cNvPr id="112" name="Text 110"/>
          <p:cNvSpPr txBox="1"/>
          <p:nvPr/>
        </p:nvSpPr>
        <p:spPr>
          <a:xfrm>
            <a:off x="2423160" y="3227832"/>
            <a:ext cx="1280160" cy="201168"/>
          </a:xfrm>
          <a:prstGeom prst="rect">
            <a:avLst/>
          </a:prstGeom>
          <a:noFill/>
          <a:ln/>
        </p:spPr>
        <p:txBody>
          <a:bodyPr wrap="square" lIns="0" tIns="0" rIns="0" bIns="0" rtlCol="0" anchor="ctr"/>
          <a:lstStyle/>
          <a:p>
            <a:pPr algn="ctr" indent="0" marL="0">
              <a:buNone/>
            </a:pPr>
            <a:r>
              <a:rPr lang="en-US" sz="1000" dirty="0">
                <a:solidFill>
                  <a:srgbClr val="4A5B6B"/>
                </a:solidFill>
                <a:latin typeface="Calibri" pitchFamily="34" charset="0"/>
                <a:ea typeface="Calibri" pitchFamily="34" charset="-122"/>
                <a:cs typeface="Calibri" pitchFamily="34" charset="-120"/>
              </a:rPr>
              <a:t>ReLU</a:t>
            </a:r>
            <a:endParaRPr lang="en-US" sz="1000" dirty="0"/>
          </a:p>
        </p:txBody>
      </p:sp>
      <p:sp>
        <p:nvSpPr>
          <p:cNvPr id="113" name="Shape 111"/>
          <p:cNvSpPr/>
          <p:nvPr/>
        </p:nvSpPr>
        <p:spPr>
          <a:xfrm>
            <a:off x="4160520" y="1389888"/>
            <a:ext cx="182880" cy="182880"/>
          </a:xfrm>
          <a:prstGeom prst="ellipse">
            <a:avLst/>
          </a:prstGeom>
          <a:solidFill>
            <a:srgbClr val="E8A33D"/>
          </a:solidFill>
          <a:ln w="12700">
            <a:solidFill>
              <a:srgbClr val="FFFFFF"/>
            </a:solidFill>
            <a:prstDash val="solid"/>
          </a:ln>
        </p:spPr>
      </p:sp>
      <p:sp>
        <p:nvSpPr>
          <p:cNvPr id="114" name="Shape 112"/>
          <p:cNvSpPr/>
          <p:nvPr/>
        </p:nvSpPr>
        <p:spPr>
          <a:xfrm>
            <a:off x="4160520" y="1751076"/>
            <a:ext cx="182880" cy="182880"/>
          </a:xfrm>
          <a:prstGeom prst="ellipse">
            <a:avLst/>
          </a:prstGeom>
          <a:solidFill>
            <a:srgbClr val="E8A33D"/>
          </a:solidFill>
          <a:ln w="12700">
            <a:solidFill>
              <a:srgbClr val="FFFFFF"/>
            </a:solidFill>
            <a:prstDash val="solid"/>
          </a:ln>
        </p:spPr>
      </p:sp>
      <p:sp>
        <p:nvSpPr>
          <p:cNvPr id="115" name="Shape 113"/>
          <p:cNvSpPr/>
          <p:nvPr/>
        </p:nvSpPr>
        <p:spPr>
          <a:xfrm>
            <a:off x="4160520" y="2112264"/>
            <a:ext cx="182880" cy="182880"/>
          </a:xfrm>
          <a:prstGeom prst="ellipse">
            <a:avLst/>
          </a:prstGeom>
          <a:solidFill>
            <a:srgbClr val="E8A33D"/>
          </a:solidFill>
          <a:ln w="12700">
            <a:solidFill>
              <a:srgbClr val="FFFFFF"/>
            </a:solidFill>
            <a:prstDash val="solid"/>
          </a:ln>
        </p:spPr>
      </p:sp>
      <p:sp>
        <p:nvSpPr>
          <p:cNvPr id="116" name="Shape 114"/>
          <p:cNvSpPr/>
          <p:nvPr/>
        </p:nvSpPr>
        <p:spPr>
          <a:xfrm>
            <a:off x="4160520" y="2473452"/>
            <a:ext cx="182880" cy="182880"/>
          </a:xfrm>
          <a:prstGeom prst="ellipse">
            <a:avLst/>
          </a:prstGeom>
          <a:solidFill>
            <a:srgbClr val="E8A33D"/>
          </a:solidFill>
          <a:ln w="12700">
            <a:solidFill>
              <a:srgbClr val="FFFFFF"/>
            </a:solidFill>
            <a:prstDash val="solid"/>
          </a:ln>
        </p:spPr>
      </p:sp>
      <p:sp>
        <p:nvSpPr>
          <p:cNvPr id="117" name="Shape 115"/>
          <p:cNvSpPr/>
          <p:nvPr/>
        </p:nvSpPr>
        <p:spPr>
          <a:xfrm>
            <a:off x="4160520" y="2834640"/>
            <a:ext cx="182880" cy="182880"/>
          </a:xfrm>
          <a:prstGeom prst="ellipse">
            <a:avLst/>
          </a:prstGeom>
          <a:solidFill>
            <a:srgbClr val="E8A33D"/>
          </a:solidFill>
          <a:ln w="12700">
            <a:solidFill>
              <a:srgbClr val="FFFFFF"/>
            </a:solidFill>
            <a:prstDash val="solid"/>
          </a:ln>
        </p:spPr>
      </p:sp>
      <p:sp>
        <p:nvSpPr>
          <p:cNvPr id="118" name="Text 116"/>
          <p:cNvSpPr txBox="1"/>
          <p:nvPr/>
        </p:nvSpPr>
        <p:spPr>
          <a:xfrm>
            <a:off x="3657600" y="3035808"/>
            <a:ext cx="1188720" cy="201168"/>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Вихід</a:t>
            </a:r>
            <a:endParaRPr lang="en-US" sz="1100" dirty="0"/>
          </a:p>
        </p:txBody>
      </p:sp>
      <p:sp>
        <p:nvSpPr>
          <p:cNvPr id="119" name="Text 117"/>
          <p:cNvSpPr txBox="1"/>
          <p:nvPr/>
        </p:nvSpPr>
        <p:spPr>
          <a:xfrm>
            <a:off x="3611880" y="3227832"/>
            <a:ext cx="1280160" cy="201168"/>
          </a:xfrm>
          <a:prstGeom prst="rect">
            <a:avLst/>
          </a:prstGeom>
          <a:noFill/>
          <a:ln/>
        </p:spPr>
        <p:txBody>
          <a:bodyPr wrap="square" lIns="0" tIns="0" rIns="0" bIns="0" rtlCol="0" anchor="ctr"/>
          <a:lstStyle/>
          <a:p>
            <a:pPr algn="ctr" indent="0" marL="0">
              <a:buNone/>
            </a:pPr>
            <a:r>
              <a:rPr lang="en-US" sz="1000" dirty="0">
                <a:solidFill>
                  <a:srgbClr val="4A5B6B"/>
                </a:solidFill>
                <a:latin typeface="Calibri" pitchFamily="34" charset="0"/>
                <a:ea typeface="Calibri" pitchFamily="34" charset="-122"/>
                <a:cs typeface="Calibri" pitchFamily="34" charset="-120"/>
              </a:rPr>
              <a:t>9 класів, softmax</a:t>
            </a:r>
            <a:endParaRPr lang="en-US" sz="1000" dirty="0"/>
          </a:p>
        </p:txBody>
      </p:sp>
      <p:sp>
        <p:nvSpPr>
          <p:cNvPr id="120" name="Text 118"/>
          <p:cNvSpPr txBox="1"/>
          <p:nvPr/>
        </p:nvSpPr>
        <p:spPr>
          <a:xfrm>
            <a:off x="502920" y="3438144"/>
            <a:ext cx="4572000" cy="182880"/>
          </a:xfrm>
          <a:prstGeom prst="rect">
            <a:avLst/>
          </a:prstGeom>
          <a:noFill/>
          <a:ln/>
        </p:spPr>
        <p:txBody>
          <a:bodyPr wrap="square" lIns="0" tIns="0" rIns="0" bIns="0" rtlCol="0" anchor="ctr"/>
          <a:lstStyle/>
          <a:p>
            <a:pPr indent="0" marL="0">
              <a:buNone/>
            </a:pPr>
            <a:r>
              <a:rPr lang="en-US" sz="950" i="1" dirty="0">
                <a:solidFill>
                  <a:srgbClr val="4A5B6B"/>
                </a:solidFill>
                <a:latin typeface="Calibri" pitchFamily="34" charset="0"/>
                <a:ea typeface="Calibri" pitchFamily="34" charset="-122"/>
                <a:cs typeface="Calibri" pitchFamily="34" charset="-120"/>
              </a:rPr>
              <a:t>Dropout 0,3 між прихованими шарами</a:t>
            </a:r>
            <a:endParaRPr lang="en-US" sz="950" dirty="0"/>
          </a:p>
        </p:txBody>
      </p:sp>
      <p:sp>
        <p:nvSpPr>
          <p:cNvPr id="121" name="Панель навчання"/>
          <p:cNvSpPr/>
          <p:nvPr/>
        </p:nvSpPr>
        <p:spPr>
          <a:xfrm>
            <a:off x="5440680" y="1051560"/>
            <a:ext cx="3337560" cy="2606040"/>
          </a:xfrm>
          <a:prstGeom prst="roundRect">
            <a:avLst>
              <a:gd name="adj" fmla="val 2807"/>
            </a:avLst>
          </a:prstGeom>
          <a:solidFill>
            <a:srgbClr val="16324F"/>
          </a:solidFill>
          <a:ln w="12700">
            <a:solidFill>
              <a:srgbClr val="16324F"/>
            </a:solidFill>
            <a:prstDash val="solid"/>
          </a:ln>
        </p:spPr>
      </p:sp>
      <p:sp>
        <p:nvSpPr>
          <p:cNvPr id="122" name="Text 120"/>
          <p:cNvSpPr txBox="1"/>
          <p:nvPr/>
        </p:nvSpPr>
        <p:spPr>
          <a:xfrm>
            <a:off x="5623560" y="1115568"/>
            <a:ext cx="3017520" cy="256032"/>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Як мережа вчиться</a:t>
            </a:r>
            <a:endParaRPr lang="en-US" sz="1200" dirty="0"/>
          </a:p>
        </p:txBody>
      </p:sp>
      <p:sp>
        <p:nvSpPr>
          <p:cNvPr id="123" name="Shape 121"/>
          <p:cNvSpPr/>
          <p:nvPr/>
        </p:nvSpPr>
        <p:spPr>
          <a:xfrm>
            <a:off x="5623560" y="1472184"/>
            <a:ext cx="274320" cy="274320"/>
          </a:xfrm>
          <a:prstGeom prst="ellipse">
            <a:avLst/>
          </a:prstGeom>
          <a:solidFill>
            <a:srgbClr val="E8A33D"/>
          </a:solidFill>
          <a:ln w="12700">
            <a:solidFill>
              <a:srgbClr val="E8A33D"/>
            </a:solidFill>
            <a:prstDash val="solid"/>
          </a:ln>
        </p:spPr>
      </p:sp>
      <p:sp>
        <p:nvSpPr>
          <p:cNvPr id="124" name="Text 122"/>
          <p:cNvSpPr txBox="1"/>
          <p:nvPr/>
        </p:nvSpPr>
        <p:spPr>
          <a:xfrm>
            <a:off x="5623560" y="1472184"/>
            <a:ext cx="274320" cy="274320"/>
          </a:xfrm>
          <a:prstGeom prst="rect">
            <a:avLst/>
          </a:prstGeom>
          <a:noFill/>
          <a:ln/>
        </p:spPr>
        <p:txBody>
          <a:bodyPr wrap="square" lIns="0" tIns="0" rIns="0" bIns="0" rtlCol="0" anchor="ctr"/>
          <a:lstStyle/>
          <a:p>
            <a:pPr algn="ctr" indent="0" marL="0">
              <a:buNone/>
            </a:pPr>
            <a:r>
              <a:rPr lang="en-US" sz="1200" b="1" dirty="0">
                <a:solidFill>
                  <a:srgbClr val="16324F"/>
                </a:solidFill>
                <a:latin typeface="Calibri" pitchFamily="34" charset="0"/>
                <a:ea typeface="Calibri" pitchFamily="34" charset="-122"/>
                <a:cs typeface="Calibri" pitchFamily="34" charset="-120"/>
              </a:rPr>
              <a:t>1</a:t>
            </a:r>
            <a:endParaRPr lang="en-US" sz="1200" dirty="0"/>
          </a:p>
        </p:txBody>
      </p:sp>
      <p:sp>
        <p:nvSpPr>
          <p:cNvPr id="125" name="Text 123"/>
          <p:cNvSpPr txBox="1"/>
          <p:nvPr/>
        </p:nvSpPr>
        <p:spPr>
          <a:xfrm>
            <a:off x="6016752" y="1426464"/>
            <a:ext cx="269748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Прямий прохід</a:t>
            </a:r>
            <a:endParaRPr lang="en-US" sz="1200" dirty="0"/>
          </a:p>
          <a:p>
            <a:pPr indent="0" marL="0">
              <a:buNone/>
            </a:pPr>
            <a:r>
              <a:rPr lang="en-US" sz="1050" dirty="0">
                <a:solidFill>
                  <a:srgbClr val="C9D6E2"/>
                </a:solidFill>
                <a:latin typeface="Calibri" pitchFamily="34" charset="0"/>
                <a:ea typeface="Calibri" pitchFamily="34" charset="-122"/>
                <a:cs typeface="Calibri" pitchFamily="34" charset="-120"/>
              </a:rPr>
              <a:t>ознаки → прогноз</a:t>
            </a:r>
            <a:endParaRPr lang="en-US" sz="1200" dirty="0"/>
          </a:p>
        </p:txBody>
      </p:sp>
      <p:sp>
        <p:nvSpPr>
          <p:cNvPr id="126" name="Shape 124"/>
          <p:cNvSpPr/>
          <p:nvPr/>
        </p:nvSpPr>
        <p:spPr>
          <a:xfrm>
            <a:off x="5623560" y="2020824"/>
            <a:ext cx="274320" cy="274320"/>
          </a:xfrm>
          <a:prstGeom prst="ellipse">
            <a:avLst/>
          </a:prstGeom>
          <a:solidFill>
            <a:srgbClr val="E8A33D"/>
          </a:solidFill>
          <a:ln w="12700">
            <a:solidFill>
              <a:srgbClr val="E8A33D"/>
            </a:solidFill>
            <a:prstDash val="solid"/>
          </a:ln>
        </p:spPr>
      </p:sp>
      <p:sp>
        <p:nvSpPr>
          <p:cNvPr id="127" name="Text 125"/>
          <p:cNvSpPr txBox="1"/>
          <p:nvPr/>
        </p:nvSpPr>
        <p:spPr>
          <a:xfrm>
            <a:off x="5623560" y="2020824"/>
            <a:ext cx="274320" cy="274320"/>
          </a:xfrm>
          <a:prstGeom prst="rect">
            <a:avLst/>
          </a:prstGeom>
          <a:noFill/>
          <a:ln/>
        </p:spPr>
        <p:txBody>
          <a:bodyPr wrap="square" lIns="0" tIns="0" rIns="0" bIns="0" rtlCol="0" anchor="ctr"/>
          <a:lstStyle/>
          <a:p>
            <a:pPr algn="ctr" indent="0" marL="0">
              <a:buNone/>
            </a:pPr>
            <a:r>
              <a:rPr lang="en-US" sz="1200" b="1" dirty="0">
                <a:solidFill>
                  <a:srgbClr val="16324F"/>
                </a:solidFill>
                <a:latin typeface="Calibri" pitchFamily="34" charset="0"/>
                <a:ea typeface="Calibri" pitchFamily="34" charset="-122"/>
                <a:cs typeface="Calibri" pitchFamily="34" charset="-120"/>
              </a:rPr>
              <a:t>2</a:t>
            </a:r>
            <a:endParaRPr lang="en-US" sz="1200" dirty="0"/>
          </a:p>
        </p:txBody>
      </p:sp>
      <p:sp>
        <p:nvSpPr>
          <p:cNvPr id="128" name="Text 126"/>
          <p:cNvSpPr txBox="1"/>
          <p:nvPr/>
        </p:nvSpPr>
        <p:spPr>
          <a:xfrm>
            <a:off x="6016752" y="1975104"/>
            <a:ext cx="269748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Функція втрат</a:t>
            </a:r>
            <a:endParaRPr lang="en-US" sz="1200" dirty="0"/>
          </a:p>
          <a:p>
            <a:pPr indent="0" marL="0">
              <a:buNone/>
            </a:pPr>
            <a:r>
              <a:rPr lang="en-US" sz="1050" dirty="0">
                <a:solidFill>
                  <a:srgbClr val="C9D6E2"/>
                </a:solidFill>
                <a:latin typeface="Calibri" pitchFamily="34" charset="0"/>
                <a:ea typeface="Calibri" pitchFamily="34" charset="-122"/>
                <a:cs typeface="Calibri" pitchFamily="34" charset="-120"/>
              </a:rPr>
              <a:t>MSE (регресія), крос-ентропія (класи)</a:t>
            </a:r>
            <a:endParaRPr lang="en-US" sz="1200" dirty="0"/>
          </a:p>
        </p:txBody>
      </p:sp>
      <p:sp>
        <p:nvSpPr>
          <p:cNvPr id="129" name="Shape 127"/>
          <p:cNvSpPr/>
          <p:nvPr/>
        </p:nvSpPr>
        <p:spPr>
          <a:xfrm>
            <a:off x="5623560" y="2569464"/>
            <a:ext cx="274320" cy="274320"/>
          </a:xfrm>
          <a:prstGeom prst="ellipse">
            <a:avLst/>
          </a:prstGeom>
          <a:solidFill>
            <a:srgbClr val="E8A33D"/>
          </a:solidFill>
          <a:ln w="12700">
            <a:solidFill>
              <a:srgbClr val="E8A33D"/>
            </a:solidFill>
            <a:prstDash val="solid"/>
          </a:ln>
        </p:spPr>
      </p:sp>
      <p:sp>
        <p:nvSpPr>
          <p:cNvPr id="130" name="Text 128"/>
          <p:cNvSpPr txBox="1"/>
          <p:nvPr/>
        </p:nvSpPr>
        <p:spPr>
          <a:xfrm>
            <a:off x="5623560" y="2569464"/>
            <a:ext cx="274320" cy="274320"/>
          </a:xfrm>
          <a:prstGeom prst="rect">
            <a:avLst/>
          </a:prstGeom>
          <a:noFill/>
          <a:ln/>
        </p:spPr>
        <p:txBody>
          <a:bodyPr wrap="square" lIns="0" tIns="0" rIns="0" bIns="0" rtlCol="0" anchor="ctr"/>
          <a:lstStyle/>
          <a:p>
            <a:pPr algn="ctr" indent="0" marL="0">
              <a:buNone/>
            </a:pPr>
            <a:r>
              <a:rPr lang="en-US" sz="1200" b="1" dirty="0">
                <a:solidFill>
                  <a:srgbClr val="16324F"/>
                </a:solidFill>
                <a:latin typeface="Calibri" pitchFamily="34" charset="0"/>
                <a:ea typeface="Calibri" pitchFamily="34" charset="-122"/>
                <a:cs typeface="Calibri" pitchFamily="34" charset="-120"/>
              </a:rPr>
              <a:t>3</a:t>
            </a:r>
            <a:endParaRPr lang="en-US" sz="1200" dirty="0"/>
          </a:p>
        </p:txBody>
      </p:sp>
      <p:sp>
        <p:nvSpPr>
          <p:cNvPr id="131" name="Text 129"/>
          <p:cNvSpPr txBox="1"/>
          <p:nvPr/>
        </p:nvSpPr>
        <p:spPr>
          <a:xfrm>
            <a:off x="6016752" y="2523744"/>
            <a:ext cx="269748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Зворотне поширення</a:t>
            </a:r>
            <a:endParaRPr lang="en-US" sz="1200" dirty="0"/>
          </a:p>
          <a:p>
            <a:pPr indent="0" marL="0">
              <a:buNone/>
            </a:pPr>
            <a:r>
              <a:rPr lang="en-US" sz="1050" dirty="0">
                <a:solidFill>
                  <a:srgbClr val="C9D6E2"/>
                </a:solidFill>
                <a:latin typeface="Calibri" pitchFamily="34" charset="0"/>
                <a:ea typeface="Calibri" pitchFamily="34" charset="-122"/>
                <a:cs typeface="Calibri" pitchFamily="34" charset="-120"/>
              </a:rPr>
              <a:t>градієнт помилки для кожної ваги</a:t>
            </a:r>
            <a:endParaRPr lang="en-US" sz="1200" dirty="0"/>
          </a:p>
        </p:txBody>
      </p:sp>
      <p:sp>
        <p:nvSpPr>
          <p:cNvPr id="132" name="Shape 130"/>
          <p:cNvSpPr/>
          <p:nvPr/>
        </p:nvSpPr>
        <p:spPr>
          <a:xfrm>
            <a:off x="5623560" y="3118104"/>
            <a:ext cx="274320" cy="274320"/>
          </a:xfrm>
          <a:prstGeom prst="ellipse">
            <a:avLst/>
          </a:prstGeom>
          <a:solidFill>
            <a:srgbClr val="E8A33D"/>
          </a:solidFill>
          <a:ln w="12700">
            <a:solidFill>
              <a:srgbClr val="E8A33D"/>
            </a:solidFill>
            <a:prstDash val="solid"/>
          </a:ln>
        </p:spPr>
      </p:sp>
      <p:sp>
        <p:nvSpPr>
          <p:cNvPr id="133" name="Text 131"/>
          <p:cNvSpPr txBox="1"/>
          <p:nvPr/>
        </p:nvSpPr>
        <p:spPr>
          <a:xfrm>
            <a:off x="5623560" y="3118104"/>
            <a:ext cx="274320" cy="274320"/>
          </a:xfrm>
          <a:prstGeom prst="rect">
            <a:avLst/>
          </a:prstGeom>
          <a:noFill/>
          <a:ln/>
        </p:spPr>
        <p:txBody>
          <a:bodyPr wrap="square" lIns="0" tIns="0" rIns="0" bIns="0" rtlCol="0" anchor="ctr"/>
          <a:lstStyle/>
          <a:p>
            <a:pPr algn="ctr" indent="0" marL="0">
              <a:buNone/>
            </a:pPr>
            <a:r>
              <a:rPr lang="en-US" sz="1200" b="1" dirty="0">
                <a:solidFill>
                  <a:srgbClr val="16324F"/>
                </a:solidFill>
                <a:latin typeface="Calibri" pitchFamily="34" charset="0"/>
                <a:ea typeface="Calibri" pitchFamily="34" charset="-122"/>
                <a:cs typeface="Calibri" pitchFamily="34" charset="-120"/>
              </a:rPr>
              <a:t>4</a:t>
            </a:r>
            <a:endParaRPr lang="en-US" sz="1200" dirty="0"/>
          </a:p>
        </p:txBody>
      </p:sp>
      <p:sp>
        <p:nvSpPr>
          <p:cNvPr id="134" name="Text 132"/>
          <p:cNvSpPr txBox="1"/>
          <p:nvPr/>
        </p:nvSpPr>
        <p:spPr>
          <a:xfrm>
            <a:off x="6016752" y="3072384"/>
            <a:ext cx="269748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Оновлення ваг</a:t>
            </a:r>
            <a:endParaRPr lang="en-US" sz="1200" dirty="0"/>
          </a:p>
          <a:p>
            <a:pPr indent="0" marL="0">
              <a:buNone/>
            </a:pPr>
            <a:r>
              <a:rPr lang="en-US" sz="1050" dirty="0">
                <a:solidFill>
                  <a:srgbClr val="C9D6E2"/>
                </a:solidFill>
                <a:latin typeface="Calibri" pitchFamily="34" charset="0"/>
                <a:ea typeface="Calibri" pitchFamily="34" charset="-122"/>
                <a:cs typeface="Calibri" pitchFamily="34" charset="-120"/>
              </a:rPr>
              <a:t>Adam, швидкість 0,001; повтор за епохами</a:t>
            </a:r>
            <a:endParaRPr lang="en-US" sz="1200" dirty="0"/>
          </a:p>
        </p:txBody>
      </p:sp>
      <p:sp>
        <p:nvSpPr>
          <p:cNvPr id="135" name="Text 133"/>
          <p:cNvSpPr txBox="1"/>
          <p:nvPr/>
        </p:nvSpPr>
        <p:spPr>
          <a:xfrm>
            <a:off x="365760" y="3767328"/>
            <a:ext cx="4114800" cy="237744"/>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Що відрізняє мою мережу</a:t>
            </a:r>
            <a:endParaRPr lang="en-US" sz="1200" dirty="0"/>
          </a:p>
        </p:txBody>
      </p:sp>
      <p:sp>
        <p:nvSpPr>
          <p:cNvPr id="136" name="Shape 134"/>
          <p:cNvSpPr/>
          <p:nvPr/>
        </p:nvSpPr>
        <p:spPr>
          <a:xfrm>
            <a:off x="365760" y="4041648"/>
            <a:ext cx="2011680" cy="896112"/>
          </a:xfrm>
          <a:prstGeom prst="roundRect">
            <a:avLst>
              <a:gd name="adj" fmla="val 6122"/>
            </a:avLst>
          </a:prstGeom>
          <a:solidFill>
            <a:srgbClr val="EEF3F7"/>
          </a:solidFill>
          <a:ln w="12700">
            <a:solidFill>
              <a:srgbClr val="EEF3F7"/>
            </a:solidFill>
            <a:prstDash val="solid"/>
          </a:ln>
        </p:spPr>
      </p:sp>
      <p:sp>
        <p:nvSpPr>
          <p:cNvPr id="137" name="Shape 135"/>
          <p:cNvSpPr/>
          <p:nvPr/>
        </p:nvSpPr>
        <p:spPr>
          <a:xfrm>
            <a:off x="365760" y="4169664"/>
            <a:ext cx="45720" cy="640080"/>
          </a:xfrm>
          <a:prstGeom prst="rect">
            <a:avLst/>
          </a:prstGeom>
          <a:solidFill>
            <a:srgbClr val="1F7A8C"/>
          </a:solidFill>
          <a:ln w="12700">
            <a:solidFill>
              <a:srgbClr val="1F7A8C"/>
            </a:solidFill>
            <a:prstDash val="solid"/>
          </a:ln>
        </p:spPr>
      </p:sp>
      <p:sp>
        <p:nvSpPr>
          <p:cNvPr id="138" name="Text 136"/>
          <p:cNvSpPr txBox="1"/>
          <p:nvPr/>
        </p:nvSpPr>
        <p:spPr>
          <a:xfrm>
            <a:off x="502920" y="4078224"/>
            <a:ext cx="1810512" cy="82296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Повнозв'язна MLP</a:t>
            </a:r>
            <a:endParaRPr lang="en-US" sz="1300" dirty="0"/>
          </a:p>
          <a:p>
            <a:pPr indent="0" marL="0">
              <a:buNone/>
            </a:pPr>
            <a:r>
              <a:rPr lang="en-US" sz="950" dirty="0">
                <a:solidFill>
                  <a:srgbClr val="3E4F5F"/>
                </a:solidFill>
                <a:latin typeface="Calibri" pitchFamily="34" charset="0"/>
                <a:ea typeface="Calibri" pitchFamily="34" charset="-122"/>
                <a:cs typeface="Calibri" pitchFamily="34" charset="-120"/>
              </a:rPr>
              <a:t>не CNN і не RNN: табличні ознаки без просторової структури</a:t>
            </a:r>
            <a:endParaRPr lang="en-US" sz="1300" dirty="0"/>
          </a:p>
        </p:txBody>
      </p:sp>
      <p:sp>
        <p:nvSpPr>
          <p:cNvPr id="139" name="Shape 137"/>
          <p:cNvSpPr/>
          <p:nvPr/>
        </p:nvSpPr>
        <p:spPr>
          <a:xfrm>
            <a:off x="2499055" y="4041648"/>
            <a:ext cx="2011680" cy="896112"/>
          </a:xfrm>
          <a:prstGeom prst="roundRect">
            <a:avLst>
              <a:gd name="adj" fmla="val 6122"/>
            </a:avLst>
          </a:prstGeom>
          <a:solidFill>
            <a:srgbClr val="EEF3F7"/>
          </a:solidFill>
          <a:ln w="12700">
            <a:solidFill>
              <a:srgbClr val="EEF3F7"/>
            </a:solidFill>
            <a:prstDash val="solid"/>
          </a:ln>
        </p:spPr>
      </p:sp>
      <p:sp>
        <p:nvSpPr>
          <p:cNvPr id="140" name="Shape 138"/>
          <p:cNvSpPr/>
          <p:nvPr/>
        </p:nvSpPr>
        <p:spPr>
          <a:xfrm>
            <a:off x="2499055" y="4169664"/>
            <a:ext cx="45720" cy="640080"/>
          </a:xfrm>
          <a:prstGeom prst="rect">
            <a:avLst/>
          </a:prstGeom>
          <a:solidFill>
            <a:srgbClr val="1F7A8C"/>
          </a:solidFill>
          <a:ln w="12700">
            <a:solidFill>
              <a:srgbClr val="1F7A8C"/>
            </a:solidFill>
            <a:prstDash val="solid"/>
          </a:ln>
        </p:spPr>
      </p:sp>
      <p:sp>
        <p:nvSpPr>
          <p:cNvPr id="141" name="Text 139"/>
          <p:cNvSpPr txBox="1"/>
          <p:nvPr/>
        </p:nvSpPr>
        <p:spPr>
          <a:xfrm>
            <a:off x="2636215" y="4078224"/>
            <a:ext cx="1810512" cy="82296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11 529 параметрів</a:t>
            </a:r>
            <a:endParaRPr lang="en-US" sz="1300" dirty="0"/>
          </a:p>
          <a:p>
            <a:pPr indent="0" marL="0">
              <a:buNone/>
            </a:pPr>
            <a:r>
              <a:rPr lang="en-US" sz="950" dirty="0">
                <a:solidFill>
                  <a:srgbClr val="3E4F5F"/>
                </a:solidFill>
                <a:latin typeface="Calibri" pitchFamily="34" charset="0"/>
                <a:ea typeface="Calibri" pitchFamily="34" charset="-122"/>
                <a:cs typeface="Calibri" pitchFamily="34" charset="-120"/>
              </a:rPr>
              <a:t>мала мережа (регресійна: 6 849), тисячі, а не мільйони</a:t>
            </a:r>
            <a:endParaRPr lang="en-US" sz="1300" dirty="0"/>
          </a:p>
        </p:txBody>
      </p:sp>
      <p:sp>
        <p:nvSpPr>
          <p:cNvPr id="142" name="Shape 140"/>
          <p:cNvSpPr/>
          <p:nvPr/>
        </p:nvSpPr>
        <p:spPr>
          <a:xfrm>
            <a:off x="4632350" y="4041648"/>
            <a:ext cx="2011680" cy="896112"/>
          </a:xfrm>
          <a:prstGeom prst="roundRect">
            <a:avLst>
              <a:gd name="adj" fmla="val 6122"/>
            </a:avLst>
          </a:prstGeom>
          <a:solidFill>
            <a:srgbClr val="EEF3F7"/>
          </a:solidFill>
          <a:ln w="12700">
            <a:solidFill>
              <a:srgbClr val="EEF3F7"/>
            </a:solidFill>
            <a:prstDash val="solid"/>
          </a:ln>
        </p:spPr>
      </p:sp>
      <p:sp>
        <p:nvSpPr>
          <p:cNvPr id="143" name="Shape 141"/>
          <p:cNvSpPr/>
          <p:nvPr/>
        </p:nvSpPr>
        <p:spPr>
          <a:xfrm>
            <a:off x="4632350" y="4169664"/>
            <a:ext cx="45720" cy="640080"/>
          </a:xfrm>
          <a:prstGeom prst="rect">
            <a:avLst/>
          </a:prstGeom>
          <a:solidFill>
            <a:srgbClr val="E8A33D"/>
          </a:solidFill>
          <a:ln w="12700">
            <a:solidFill>
              <a:srgbClr val="E8A33D"/>
            </a:solidFill>
            <a:prstDash val="solid"/>
          </a:ln>
        </p:spPr>
      </p:sp>
      <p:sp>
        <p:nvSpPr>
          <p:cNvPr id="144" name="Text 142"/>
          <p:cNvSpPr txBox="1"/>
          <p:nvPr/>
        </p:nvSpPr>
        <p:spPr>
          <a:xfrm>
            <a:off x="4769510" y="4078224"/>
            <a:ext cx="1810512" cy="82296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Accuracy 0,786</a:t>
            </a:r>
            <a:endParaRPr lang="en-US" sz="1300" dirty="0"/>
          </a:p>
          <a:p>
            <a:pPr indent="0" marL="0">
              <a:buNone/>
            </a:pPr>
            <a:r>
              <a:rPr lang="en-US" sz="950" dirty="0">
                <a:solidFill>
                  <a:srgbClr val="3E4F5F"/>
                </a:solidFill>
                <a:latin typeface="Calibri" pitchFamily="34" charset="0"/>
                <a:ea typeface="Calibri" pitchFamily="34" charset="-122"/>
                <a:cs typeface="Calibri" pitchFamily="34" charset="-120"/>
              </a:rPr>
              <a:t>логістична регресія 0,436; випадково 0,111</a:t>
            </a:r>
            <a:endParaRPr lang="en-US" sz="1300" dirty="0"/>
          </a:p>
        </p:txBody>
      </p:sp>
      <p:sp>
        <p:nvSpPr>
          <p:cNvPr id="145" name="Shape 143"/>
          <p:cNvSpPr/>
          <p:nvPr/>
        </p:nvSpPr>
        <p:spPr>
          <a:xfrm>
            <a:off x="6765646" y="4041648"/>
            <a:ext cx="2011680" cy="896112"/>
          </a:xfrm>
          <a:prstGeom prst="roundRect">
            <a:avLst>
              <a:gd name="adj" fmla="val 6122"/>
            </a:avLst>
          </a:prstGeom>
          <a:solidFill>
            <a:srgbClr val="EEF3F7"/>
          </a:solidFill>
          <a:ln w="12700">
            <a:solidFill>
              <a:srgbClr val="EEF3F7"/>
            </a:solidFill>
            <a:prstDash val="solid"/>
          </a:ln>
        </p:spPr>
      </p:sp>
      <p:sp>
        <p:nvSpPr>
          <p:cNvPr id="146" name="Shape 144"/>
          <p:cNvSpPr/>
          <p:nvPr/>
        </p:nvSpPr>
        <p:spPr>
          <a:xfrm>
            <a:off x="6765646" y="4169664"/>
            <a:ext cx="45720" cy="640080"/>
          </a:xfrm>
          <a:prstGeom prst="rect">
            <a:avLst/>
          </a:prstGeom>
          <a:solidFill>
            <a:srgbClr val="E8A33D"/>
          </a:solidFill>
          <a:ln w="12700">
            <a:solidFill>
              <a:srgbClr val="E8A33D"/>
            </a:solidFill>
            <a:prstDash val="solid"/>
          </a:ln>
        </p:spPr>
      </p:sp>
      <p:sp>
        <p:nvSpPr>
          <p:cNvPr id="147" name="Text 145"/>
          <p:cNvSpPr txBox="1"/>
          <p:nvPr/>
        </p:nvSpPr>
        <p:spPr>
          <a:xfrm>
            <a:off x="6902806" y="4078224"/>
            <a:ext cx="1810512" cy="822960"/>
          </a:xfrm>
          <a:prstGeom prst="rect">
            <a:avLst/>
          </a:prstGeom>
          <a:noFill/>
          <a:ln/>
        </p:spPr>
        <p:txBody>
          <a:bodyPr wrap="square" lIns="0" tIns="0" rIns="0" bIns="0" rtlCol="0" anchor="ctr"/>
          <a:lstStyle/>
          <a:p>
            <a:pPr indent="0" marL="0">
              <a:buNone/>
            </a:pPr>
            <a:r>
              <a:rPr lang="en-US" sz="1300" b="1" dirty="0">
                <a:solidFill>
                  <a:srgbClr val="16324F"/>
                </a:solidFill>
                <a:latin typeface="Calibri" pitchFamily="34" charset="0"/>
                <a:ea typeface="Calibri" pitchFamily="34" charset="-122"/>
                <a:cs typeface="Calibri" pitchFamily="34" charset="-120"/>
              </a:rPr>
              <a:t>MSE 807</a:t>
            </a:r>
            <a:endParaRPr lang="en-US" sz="1300" dirty="0"/>
          </a:p>
          <a:p>
            <a:pPr indent="0" marL="0">
              <a:buNone/>
            </a:pPr>
            <a:r>
              <a:rPr lang="en-US" sz="950" dirty="0">
                <a:solidFill>
                  <a:srgbClr val="3E4F5F"/>
                </a:solidFill>
                <a:latin typeface="Calibri" pitchFamily="34" charset="0"/>
                <a:ea typeface="Calibri" pitchFamily="34" charset="-122"/>
                <a:cs typeface="Calibri" pitchFamily="34" charset="-120"/>
              </a:rPr>
              <a:t>лінійна регресія 5300: тобто ≈ 6,5 раза більша</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Штучні нейронні мережі: структура та принцип навчання</dc:title>
  <dc:subject>PptxGenJS Presentation</dc:subject>
  <dc:creator>Щербаков Богдан Володимирович</dc:creator>
  <cp:lastModifiedBy>Щербаков Богдан Володимирович</cp:lastModifiedBy>
  <cp:revision>1</cp:revision>
  <dcterms:created xsi:type="dcterms:W3CDTF">2026-10-02T15:11:35Z</dcterms:created>
  <dcterms:modified xsi:type="dcterms:W3CDTF">2026-10-02T15:11:35Z</dcterms:modified>
</cp:coreProperties>
</file>